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44" r:id="rId1"/>
  </p:sldMasterIdLst>
  <p:sldIdLst>
    <p:sldId id="256" r:id="rId2"/>
    <p:sldId id="257" r:id="rId3"/>
    <p:sldId id="258" r:id="rId4"/>
    <p:sldId id="259" r:id="rId5"/>
    <p:sldId id="260" r:id="rId6"/>
    <p:sldId id="274" r:id="rId7"/>
    <p:sldId id="261" r:id="rId8"/>
    <p:sldId id="262" r:id="rId9"/>
    <p:sldId id="263" r:id="rId10"/>
    <p:sldId id="264" r:id="rId11"/>
    <p:sldId id="265" r:id="rId12"/>
    <p:sldId id="27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000" autoAdjust="0"/>
    <p:restoredTop sz="94660"/>
  </p:normalViewPr>
  <p:slideViewPr>
    <p:cSldViewPr snapToGrid="0">
      <p:cViewPr>
        <p:scale>
          <a:sx n="73" d="100"/>
          <a:sy n="73" d="100"/>
        </p:scale>
        <p:origin x="618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54955" y="1447800"/>
            <a:ext cx="8825658" cy="3329581"/>
          </a:xfrm>
        </p:spPr>
        <p:txBody>
          <a:bodyPr anchor="b"/>
          <a:lstStyle>
            <a:lvl1pPr>
              <a:defRPr sz="7200"/>
            </a:lvl1pPr>
          </a:lstStyle>
          <a:p>
            <a:r>
              <a:rPr lang="fr-FR" smtClean="0"/>
              <a:t>Modifiez le style du titre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54955" y="4777380"/>
            <a:ext cx="8825658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fr-FR" smtClean="0"/>
              <a:t>Modifier le style des sous-titres du masque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25CD54-C790-49CB-A1DB-D5548303653C}" type="datetimeFigureOut">
              <a:rPr lang="fr-FR" smtClean="0"/>
              <a:t>07/09/2026</a:t>
            </a:fld>
            <a:endParaRPr lang="fr-FR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3A6448-E21C-46EE-BFF8-9E0CECBC461F}" type="slidenum">
              <a:rPr lang="fr-FR" smtClean="0"/>
              <a:t>‹N°›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9578913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 smtClean="0"/>
              <a:t>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en-US" dirty="0"/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25CD54-C790-49CB-A1DB-D5548303653C}" type="datetimeFigureOut">
              <a:rPr lang="fr-FR" smtClean="0"/>
              <a:t>07/09/2026</a:t>
            </a:fld>
            <a:endParaRPr lang="fr-FR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3A6448-E21C-46EE-BFF8-9E0CECBC461F}" type="slidenum">
              <a:rPr lang="fr-FR" smtClean="0"/>
              <a:t>‹N°›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45669329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2861733"/>
            <a:ext cx="8825657" cy="1915647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fr-FR" smtClean="0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5" y="4777381"/>
            <a:ext cx="8825658" cy="860400"/>
          </a:xfrm>
        </p:spPr>
        <p:txBody>
          <a:bodyPr anchor="t"/>
          <a:lstStyle>
            <a:lvl1pPr marL="0" indent="0" algn="l">
              <a:buNone/>
              <a:defRPr sz="2000"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 smtClean="0"/>
              <a:t>Modifier les styles du texte du masque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25CD54-C790-49CB-A1DB-D5548303653C}" type="datetimeFigureOut">
              <a:rPr lang="fr-FR" smtClean="0"/>
              <a:t>07/09/2026</a:t>
            </a:fld>
            <a:endParaRPr lang="fr-FR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3A6448-E21C-46EE-BFF8-9E0CECBC461F}" type="slidenum">
              <a:rPr lang="fr-FR" smtClean="0"/>
              <a:t>‹N°›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56360992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03312" y="2060575"/>
            <a:ext cx="4396339" cy="4195763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fr-FR" smtClean="0"/>
              <a:t>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654493" y="2056092"/>
            <a:ext cx="4396341" cy="4200245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fr-FR" smtClean="0"/>
              <a:t>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25CD54-C790-49CB-A1DB-D5548303653C}" type="datetimeFigureOut">
              <a:rPr lang="fr-FR" smtClean="0"/>
              <a:t>07/09/2026</a:t>
            </a:fld>
            <a:endParaRPr lang="fr-FR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3A6448-E21C-46EE-BFF8-9E0CECBC461F}" type="slidenum">
              <a:rPr lang="fr-FR" smtClean="0"/>
              <a:t>‹N°›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29096105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fr-FR" smtClean="0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3" y="1905000"/>
            <a:ext cx="439633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 smtClean="0"/>
              <a:t>Modifier les styles du texte du masque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03312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fr-FR" smtClean="0"/>
              <a:t>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654495" y="1905000"/>
            <a:ext cx="439633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 smtClean="0"/>
              <a:t>Modifier les styles du texte du masque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654495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fr-FR" smtClean="0"/>
              <a:t>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25CD54-C790-49CB-A1DB-D5548303653C}" type="datetimeFigureOut">
              <a:rPr lang="fr-FR" smtClean="0"/>
              <a:t>07/09/2026</a:t>
            </a:fld>
            <a:endParaRPr lang="fr-FR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3A6448-E21C-46EE-BFF8-9E0CECBC461F}" type="slidenum">
              <a:rPr lang="fr-FR" smtClean="0"/>
              <a:t>‹N°›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4466779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en-US" dirty="0"/>
          </a:p>
        </p:txBody>
      </p:sp>
      <p:sp>
        <p:nvSpPr>
          <p:cNvPr id="7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25CD54-C790-49CB-A1DB-D5548303653C}" type="datetimeFigureOut">
              <a:rPr lang="fr-FR" smtClean="0"/>
              <a:t>07/09/2026</a:t>
            </a:fld>
            <a:endParaRPr lang="fr-FR" dirty="0"/>
          </a:p>
        </p:txBody>
      </p:sp>
      <p:sp>
        <p:nvSpPr>
          <p:cNvPr id="5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6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3A6448-E21C-46EE-BFF8-9E0CECBC461F}" type="slidenum">
              <a:rPr lang="fr-FR" smtClean="0"/>
              <a:t>‹N°›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66962438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25CD54-C790-49CB-A1DB-D5548303653C}" type="datetimeFigureOut">
              <a:rPr lang="fr-FR" smtClean="0"/>
              <a:t>07/09/2026</a:t>
            </a:fld>
            <a:endParaRPr lang="fr-FR" dirty="0"/>
          </a:p>
        </p:txBody>
      </p:sp>
      <p:sp>
        <p:nvSpPr>
          <p:cNvPr id="5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6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3A6448-E21C-46EE-BFF8-9E0CECBC461F}" type="slidenum">
              <a:rPr lang="fr-FR" smtClean="0"/>
              <a:t>‹N°›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83806624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3" y="1447800"/>
            <a:ext cx="3401064" cy="1447800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fr-FR" smtClean="0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84616" y="1447800"/>
            <a:ext cx="5195997" cy="4572000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fr-FR" smtClean="0"/>
              <a:t>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3" y="3129280"/>
            <a:ext cx="3401063" cy="2895599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 smtClean="0"/>
              <a:t>Modifier les styles du texte du masque</a:t>
            </a:r>
          </a:p>
        </p:txBody>
      </p:sp>
      <p:sp>
        <p:nvSpPr>
          <p:cNvPr id="7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25CD54-C790-49CB-A1DB-D5548303653C}" type="datetimeFigureOut">
              <a:rPr lang="fr-FR" smtClean="0"/>
              <a:t>07/09/2026</a:t>
            </a:fld>
            <a:endParaRPr lang="fr-FR" dirty="0"/>
          </a:p>
        </p:txBody>
      </p:sp>
      <p:sp>
        <p:nvSpPr>
          <p:cNvPr id="5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6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3A6448-E21C-46EE-BFF8-9E0CECBC461F}" type="slidenum">
              <a:rPr lang="fr-FR" smtClean="0"/>
              <a:t>‹N°›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06160655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3907" y="1854192"/>
            <a:ext cx="5092906" cy="1574808"/>
          </a:xfr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fr-FR" smtClean="0"/>
              <a:t>Modifiez le style du titre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949546" y="1143000"/>
            <a:ext cx="3200400" cy="4572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fr-FR" dirty="0" smtClean="0"/>
              <a:t>Cliquez sur l'icône pour ajouter une image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5084979" cy="1371600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 smtClean="0"/>
              <a:t>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25CD54-C790-49CB-A1DB-D5548303653C}" type="datetimeFigureOut">
              <a:rPr lang="fr-FR" smtClean="0"/>
              <a:t>07/09/2026</a:t>
            </a:fld>
            <a:endParaRPr lang="fr-FR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3A6448-E21C-46EE-BFF8-9E0CECBC461F}" type="slidenum">
              <a:rPr lang="fr-FR" smtClean="0"/>
              <a:t>‹N°›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417419767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mage panoramiqu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4800587"/>
            <a:ext cx="882565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fr-FR" smtClean="0"/>
              <a:t>Modifiez le style du titre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54955" y="685800"/>
            <a:ext cx="8825658" cy="3640666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fr-FR" dirty="0" smtClean="0"/>
              <a:t>Cliquez sur l'icône pour ajouter une image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6" y="5367325"/>
            <a:ext cx="8825656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 smtClean="0"/>
              <a:t>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25CD54-C790-49CB-A1DB-D5548303653C}" type="datetimeFigureOut">
              <a:rPr lang="fr-FR" smtClean="0"/>
              <a:t>07/09/2026</a:t>
            </a:fld>
            <a:endParaRPr lang="fr-FR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3A6448-E21C-46EE-BFF8-9E0CECBC461F}" type="slidenum">
              <a:rPr lang="fr-FR" smtClean="0"/>
              <a:t>‹N°›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88975496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re et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447800"/>
            <a:ext cx="8825659" cy="1981200"/>
          </a:xfrm>
        </p:spPr>
        <p:txBody>
          <a:bodyPr/>
          <a:lstStyle>
            <a:lvl1pPr>
              <a:defRPr sz="4800"/>
            </a:lvl1pPr>
          </a:lstStyle>
          <a:p>
            <a:r>
              <a:rPr lang="fr-FR" smtClean="0"/>
              <a:t>Modifiez le style du titre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8825659" cy="23622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 smtClean="0"/>
              <a:t>Modifier les styles du texte du masque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25CD54-C790-49CB-A1DB-D5548303653C}" type="datetimeFigureOut">
              <a:rPr lang="fr-FR" smtClean="0"/>
              <a:t>07/09/2026</a:t>
            </a:fld>
            <a:endParaRPr lang="fr-FR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3A6448-E21C-46EE-BFF8-9E0CECBC461F}" type="slidenum">
              <a:rPr lang="fr-FR" smtClean="0"/>
              <a:t>‹N°›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5028368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tation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74801" y="1447800"/>
            <a:ext cx="7999315" cy="2323374"/>
          </a:xfrm>
        </p:spPr>
        <p:txBody>
          <a:bodyPr/>
          <a:lstStyle>
            <a:lvl1pPr>
              <a:defRPr sz="4800"/>
            </a:lvl1pPr>
          </a:lstStyle>
          <a:p>
            <a:r>
              <a:rPr lang="fr-FR" smtClean="0"/>
              <a:t>Modifiez le style du titre</a:t>
            </a:r>
            <a:endParaRPr lang="en-US" dirty="0"/>
          </a:p>
        </p:txBody>
      </p:sp>
      <p:sp>
        <p:nvSpPr>
          <p:cNvPr id="11" name="Text Placeholder 3"/>
          <p:cNvSpPr>
            <a:spLocks noGrp="1"/>
          </p:cNvSpPr>
          <p:nvPr>
            <p:ph type="body" sz="half" idx="14"/>
          </p:nvPr>
        </p:nvSpPr>
        <p:spPr>
          <a:xfrm>
            <a:off x="1930400" y="3771174"/>
            <a:ext cx="7279649" cy="342174"/>
          </a:xfrm>
        </p:spPr>
        <p:txBody>
          <a:bodyPr vert="horz" lIns="91440" tIns="45720" rIns="91440" bIns="45720" rtlCol="0" anchor="t"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bg2">
                    <a:lumMod val="40000"/>
                    <a:lumOff val="60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marL="0" lvl="0" indent="0">
              <a:buNone/>
            </a:pPr>
            <a:r>
              <a:rPr lang="fr-FR" smtClean="0"/>
              <a:t>Modifier les styles du texte du masque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4350657"/>
            <a:ext cx="8825659" cy="16764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 smtClean="0"/>
              <a:t>Modifier les styles du texte du masque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25CD54-C790-49CB-A1DB-D5548303653C}" type="datetimeFigureOut">
              <a:rPr lang="fr-FR" smtClean="0"/>
              <a:t>07/09/2026</a:t>
            </a:fld>
            <a:endParaRPr lang="fr-FR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3A6448-E21C-46EE-BFF8-9E0CECBC461F}" type="slidenum">
              <a:rPr lang="fr-FR" smtClean="0"/>
              <a:t>‹N°›</a:t>
            </a:fld>
            <a:endParaRPr lang="fr-FR" dirty="0"/>
          </a:p>
        </p:txBody>
      </p:sp>
      <p:sp>
        <p:nvSpPr>
          <p:cNvPr id="12" name="TextBox 11"/>
          <p:cNvSpPr txBox="1"/>
          <p:nvPr/>
        </p:nvSpPr>
        <p:spPr>
          <a:xfrm>
            <a:off x="898295" y="971253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30490" y="2613787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91381817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rte n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3124201"/>
            <a:ext cx="8825660" cy="165318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fr-FR" smtClean="0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4777381"/>
            <a:ext cx="8825659" cy="860400"/>
          </a:xfrm>
        </p:spPr>
        <p:txBody>
          <a:bodyPr anchor="t"/>
          <a:lstStyle>
            <a:lvl1pPr marL="0" indent="0" algn="l">
              <a:buNone/>
              <a:defRPr sz="2000" cap="none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 smtClean="0"/>
              <a:t>Modifier les styles du texte du masque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25CD54-C790-49CB-A1DB-D5548303653C}" type="datetimeFigureOut">
              <a:rPr lang="fr-FR" smtClean="0"/>
              <a:t>07/09/2026</a:t>
            </a:fld>
            <a:endParaRPr lang="fr-FR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3A6448-E21C-46EE-BFF8-9E0CECBC461F}" type="slidenum">
              <a:rPr lang="fr-FR" smtClean="0"/>
              <a:t>‹N°›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0795804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 colonn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fr-FR" smtClean="0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2947" y="1981200"/>
            <a:ext cx="2946866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 smtClean="0"/>
              <a:t>Modifier les styles du texte du masque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652463" y="2667000"/>
            <a:ext cx="2927350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 smtClean="0"/>
              <a:t>Modifier les styles du texte du masque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3659" y="1981200"/>
            <a:ext cx="293624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 smtClean="0"/>
              <a:t>Modifier les styles du texte du masque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3873106" y="2667000"/>
            <a:ext cx="2946794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 smtClean="0"/>
              <a:t>Modifier les styles du texte du masque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1981200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 smtClean="0"/>
              <a:t>Modifier les styles du texte du masque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7124700" y="2667000"/>
            <a:ext cx="2932113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 smtClean="0"/>
              <a:t>Modifier les styles du texte du masque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25CD54-C790-49CB-A1DB-D5548303653C}" type="datetimeFigureOut">
              <a:rPr lang="fr-FR" smtClean="0"/>
              <a:t>07/09/2026</a:t>
            </a:fld>
            <a:endParaRPr lang="fr-FR" dirty="0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3A6448-E21C-46EE-BFF8-9E0CECBC461F}" type="slidenum">
              <a:rPr lang="fr-FR" smtClean="0"/>
              <a:t>‹N°›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09109759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 colonnes d’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fr-FR" smtClean="0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52463" y="4250949"/>
            <a:ext cx="294005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 smtClean="0"/>
              <a:t>Modifier les styles du texte du masque</a:t>
            </a:r>
          </a:p>
        </p:txBody>
      </p:sp>
      <p:sp>
        <p:nvSpPr>
          <p:cNvPr id="2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52463" y="2209800"/>
            <a:ext cx="2940050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fr-FR" dirty="0" smtClean="0"/>
              <a:t>Cliquez sur l'icône pour ajouter une image</a:t>
            </a:r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652463" y="4827211"/>
            <a:ext cx="2940050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 smtClean="0"/>
              <a:t>Modifier les styles du texte du masque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9375" y="4250949"/>
            <a:ext cx="293052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 smtClean="0"/>
              <a:t>Modifier les styles du texte du masque</a:t>
            </a:r>
          </a:p>
        </p:txBody>
      </p:sp>
      <p:sp>
        <p:nvSpPr>
          <p:cNvPr id="30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889374" y="2209800"/>
            <a:ext cx="2930525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fr-FR" dirty="0" smtClean="0"/>
              <a:t>Cliquez sur l'icône pour ajouter une image</a:t>
            </a:r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3888022" y="4827210"/>
            <a:ext cx="2934406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 smtClean="0"/>
              <a:t>Modifier les styles du texte du masque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4250949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 smtClean="0"/>
              <a:t>Modifier les styles du texte du masque</a:t>
            </a:r>
          </a:p>
        </p:txBody>
      </p:sp>
      <p:sp>
        <p:nvSpPr>
          <p:cNvPr id="31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124699" y="2209800"/>
            <a:ext cx="2932113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fr-FR" dirty="0" smtClean="0"/>
              <a:t>Cliquez sur l'icône pour ajouter une image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7124575" y="4827208"/>
            <a:ext cx="2935997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 smtClean="0"/>
              <a:t>Modifier les styles du texte du masque</a:t>
            </a:r>
          </a:p>
        </p:txBody>
      </p:sp>
      <p:cxnSp>
        <p:nvCxnSpPr>
          <p:cNvPr id="19" name="Straight Connector 18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25CD54-C790-49CB-A1DB-D5548303653C}" type="datetimeFigureOut">
              <a:rPr lang="fr-FR" smtClean="0"/>
              <a:t>07/09/2026</a:t>
            </a:fld>
            <a:endParaRPr lang="fr-FR" dirty="0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3A6448-E21C-46EE-BFF8-9E0CECBC461F}" type="slidenum">
              <a:rPr lang="fr-FR" smtClean="0"/>
              <a:t>‹N°›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4209931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 anchorCtr="0"/>
          <a:lstStyle/>
          <a:p>
            <a:pPr lvl="0"/>
            <a:r>
              <a:rPr lang="fr-FR" smtClean="0"/>
              <a:t>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25CD54-C790-49CB-A1DB-D5548303653C}" type="datetimeFigureOut">
              <a:rPr lang="fr-FR" smtClean="0"/>
              <a:t>07/09/2026</a:t>
            </a:fld>
            <a:endParaRPr lang="fr-FR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3A6448-E21C-46EE-BFF8-9E0CECBC461F}" type="slidenum">
              <a:rPr lang="fr-FR" smtClean="0"/>
              <a:t>‹N°›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64544653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304212" y="430213"/>
            <a:ext cx="1752601" cy="5826125"/>
          </a:xfrm>
        </p:spPr>
        <p:txBody>
          <a:bodyPr vert="eaVert" anchor="b" anchorCtr="0"/>
          <a:lstStyle/>
          <a:p>
            <a:r>
              <a:rPr lang="fr-FR" smtClean="0"/>
              <a:t>Modifiez le style du titre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52463" y="887414"/>
            <a:ext cx="7423149" cy="5368924"/>
          </a:xfrm>
        </p:spPr>
        <p:txBody>
          <a:bodyPr vert="eaVert"/>
          <a:lstStyle/>
          <a:p>
            <a:pPr lvl="0"/>
            <a:r>
              <a:rPr lang="fr-FR" smtClean="0"/>
              <a:t>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25CD54-C790-49CB-A1DB-D5548303653C}" type="datetimeFigureOut">
              <a:rPr lang="fr-FR" smtClean="0"/>
              <a:t>07/09/2026</a:t>
            </a:fld>
            <a:endParaRPr lang="fr-FR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3A6448-E21C-46EE-BFF8-9E0CECBC461F}" type="slidenum">
              <a:rPr lang="fr-FR" smtClean="0"/>
              <a:t>‹N°›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65659010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21" Type="http://schemas.openxmlformats.org/officeDocument/2006/relationships/image" Target="../media/image4.png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image" Target="../media/image5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13"/>
          <a:stretch/>
        </p:blipFill>
        <p:spPr>
          <a:xfrm>
            <a:off x="0" y="2669685"/>
            <a:ext cx="4037012" cy="4188315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0"/>
          <a:stretch/>
        </p:blipFill>
        <p:spPr>
          <a:xfrm>
            <a:off x="0" y="2892347"/>
            <a:ext cx="1522412" cy="2365453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860901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7000"/>
                </a:schemeClr>
              </a:gs>
              <a:gs pos="69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9" name="Picture 8"/>
          <p:cNvPicPr>
            <a:picLocks noChangeAspect="1"/>
          </p:cNvPicPr>
          <p:nvPr/>
        </p:nvPicPr>
        <p:blipFill rotWithShape="1">
          <a:blip r:embed="rId2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3"/>
          <a:stretch/>
        </p:blipFill>
        <p:spPr>
          <a:xfrm>
            <a:off x="7999412" y="0"/>
            <a:ext cx="1603387" cy="1141407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 rotWithShape="1">
          <a:blip r:embed="rId2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8605878" y="6096000"/>
            <a:ext cx="993734" cy="76200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46111" y="452718"/>
            <a:ext cx="9404723" cy="140053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fr-FR" smtClean="0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2" y="2052918"/>
            <a:ext cx="8946541" cy="41954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 smtClean="0"/>
              <a:t>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5400000">
            <a:off x="10155639" y="1790701"/>
            <a:ext cx="990599" cy="304799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fld id="{6C25CD54-C790-49CB-A1DB-D5548303653C}" type="datetimeFigureOut">
              <a:rPr lang="fr-FR" smtClean="0"/>
              <a:t>07/09/2026</a:t>
            </a:fld>
            <a:endParaRPr lang="fr-FR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5400000">
            <a:off x="8951573" y="3225297"/>
            <a:ext cx="3859795" cy="30480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endParaRPr lang="fr-FR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10352540" y="295729"/>
            <a:ext cx="838199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800" b="0" i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93A6448-E21C-46EE-BFF8-9E0CECBC461F}" type="slidenum">
              <a:rPr lang="fr-FR" smtClean="0"/>
              <a:t>‹N°›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931263443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45" r:id="rId1"/>
    <p:sldLayoutId id="2147483746" r:id="rId2"/>
    <p:sldLayoutId id="2147483747" r:id="rId3"/>
    <p:sldLayoutId id="2147483748" r:id="rId4"/>
    <p:sldLayoutId id="2147483749" r:id="rId5"/>
    <p:sldLayoutId id="2147483750" r:id="rId6"/>
    <p:sldLayoutId id="2147483751" r:id="rId7"/>
    <p:sldLayoutId id="2147483752" r:id="rId8"/>
    <p:sldLayoutId id="2147483753" r:id="rId9"/>
    <p:sldLayoutId id="2147483754" r:id="rId10"/>
    <p:sldLayoutId id="2147483755" r:id="rId11"/>
    <p:sldLayoutId id="2147483756" r:id="rId12"/>
    <p:sldLayoutId id="2147483757" r:id="rId13"/>
    <p:sldLayoutId id="2147483758" r:id="rId14"/>
    <p:sldLayoutId id="2147483759" r:id="rId15"/>
    <p:sldLayoutId id="2147483760" r:id="rId16"/>
    <p:sldLayoutId id="2147483761" r:id="rId17"/>
  </p:sldLayoutIdLst>
  <p:txStyles>
    <p:titleStyle>
      <a:lvl1pPr algn="l" defTabSz="457200" rtl="0" eaLnBrk="1" latinLnBrk="0" hangingPunct="1">
        <a:spcBef>
          <a:spcPct val="0"/>
        </a:spcBef>
        <a:buNone/>
        <a:defRPr sz="4200" b="0" i="0" kern="1200">
          <a:solidFill>
            <a:schemeClr val="tx2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2000" b="0" i="0" kern="1200">
          <a:solidFill>
            <a:schemeClr val="tx1"/>
          </a:solidFill>
          <a:latin typeface="+mj-lt"/>
          <a:ea typeface="+mj-ea"/>
          <a:cs typeface="+mj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800" b="0" i="0" kern="1200">
          <a:solidFill>
            <a:schemeClr val="tx1"/>
          </a:solidFill>
          <a:latin typeface="+mj-lt"/>
          <a:ea typeface="+mj-ea"/>
          <a:cs typeface="+mj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600" b="0" i="0" kern="1200">
          <a:solidFill>
            <a:schemeClr val="tx1"/>
          </a:solidFill>
          <a:latin typeface="+mj-lt"/>
          <a:ea typeface="+mj-ea"/>
          <a:cs typeface="+mj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5pPr>
      <a:lvl6pPr marL="2506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1403151" y="143690"/>
            <a:ext cx="8825658" cy="992777"/>
          </a:xfrm>
        </p:spPr>
        <p:txBody>
          <a:bodyPr/>
          <a:lstStyle/>
          <a:p>
            <a:r>
              <a:rPr lang="fr-FR" sz="28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fr-FR" sz="28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Projet: Conception </a:t>
            </a:r>
            <a:r>
              <a:rPr lang="fr-FR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et mise en œuvre d’un laboratoire </a:t>
            </a:r>
            <a:r>
              <a:rPr lang="fr-FR" sz="28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virtuel de </a:t>
            </a:r>
            <a:r>
              <a:rPr lang="fr-FR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réseau d’entreprise sécurisé</a:t>
            </a:r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789195" y="2687323"/>
            <a:ext cx="8825658" cy="3635100"/>
          </a:xfrm>
        </p:spPr>
        <p:txBody>
          <a:bodyPr/>
          <a:lstStyle/>
          <a:p>
            <a:r>
              <a:rPr lang="fr-FR" dirty="0">
                <a:solidFill>
                  <a:schemeClr val="accent6">
                    <a:lumMod val="20000"/>
                    <a:lumOff val="8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Supervision automatisée et détection intelligente d’anomalies</a:t>
            </a:r>
          </a:p>
          <a:p>
            <a:endParaRPr lang="fr-FR" dirty="0">
              <a:solidFill>
                <a:schemeClr val="accent6">
                  <a:lumMod val="20000"/>
                  <a:lumOff val="80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fr-FR" dirty="0">
                <a:solidFill>
                  <a:schemeClr val="accent6">
                    <a:lumMod val="20000"/>
                    <a:lumOff val="8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Projet de stage — Réseaux &amp; Infrastructure</a:t>
            </a:r>
          </a:p>
          <a:p>
            <a:r>
              <a:rPr lang="fr-FR" dirty="0">
                <a:solidFill>
                  <a:schemeClr val="accent6">
                    <a:lumMod val="20000"/>
                    <a:lumOff val="8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SenAI Technologies</a:t>
            </a:r>
          </a:p>
          <a:p>
            <a:endParaRPr lang="fr-FR" dirty="0">
              <a:solidFill>
                <a:schemeClr val="accent6">
                  <a:lumMod val="20000"/>
                  <a:lumOff val="80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fr-FR" dirty="0">
                <a:solidFill>
                  <a:schemeClr val="accent6">
                    <a:lumMod val="20000"/>
                    <a:lumOff val="8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Présenté par : Mariama </a:t>
            </a:r>
            <a:r>
              <a:rPr lang="fr-FR" dirty="0" smtClean="0">
                <a:solidFill>
                  <a:schemeClr val="accent6">
                    <a:lumMod val="20000"/>
                    <a:lumOff val="8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WADE et Diale sow</a:t>
            </a:r>
            <a:endParaRPr lang="fr-FR" dirty="0">
              <a:solidFill>
                <a:schemeClr val="accent6">
                  <a:lumMod val="20000"/>
                  <a:lumOff val="80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fr-FR" dirty="0">
                <a:solidFill>
                  <a:schemeClr val="accent6">
                    <a:lumMod val="20000"/>
                    <a:lumOff val="8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Encadrant : M. Aliou Diouf</a:t>
            </a:r>
          </a:p>
          <a:p>
            <a:endParaRPr lang="fr-FR" dirty="0">
              <a:solidFill>
                <a:schemeClr val="accent6">
                  <a:lumMod val="20000"/>
                  <a:lumOff val="80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0425831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646110" y="117567"/>
            <a:ext cx="9404723" cy="1031965"/>
          </a:xfrm>
        </p:spPr>
        <p:txBody>
          <a:bodyPr/>
          <a:lstStyle/>
          <a:p>
            <a:r>
              <a:rPr lang="fr-FR" dirty="0" smtClean="0"/>
              <a:t>                     </a:t>
            </a:r>
            <a:r>
              <a:rPr lang="fr-FR" sz="28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Contexte </a:t>
            </a:r>
            <a:r>
              <a:rPr lang="fr-FR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et problématique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646111" y="1326697"/>
            <a:ext cx="9404723" cy="5296172"/>
          </a:xfrm>
        </p:spPr>
        <p:txBody>
          <a:bodyPr>
            <a:normAutofit fontScale="47500" lnSpcReduction="20000"/>
          </a:bodyPr>
          <a:lstStyle/>
          <a:p>
            <a:r>
              <a:rPr lang="fr-FR" dirty="0" smtClean="0"/>
              <a:t>  </a:t>
            </a:r>
            <a:r>
              <a:rPr lang="fr-FR" sz="4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Les infrastructures d’entreprise doivent être sécurisées,</a:t>
            </a:r>
          </a:p>
          <a:p>
            <a:r>
              <a:rPr lang="fr-FR" sz="4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segmentées et supervisées.</a:t>
            </a:r>
          </a:p>
          <a:p>
            <a:endParaRPr lang="fr-FR" sz="4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fr-FR" sz="42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 Le </a:t>
            </a:r>
            <a:r>
              <a:rPr lang="fr-FR" sz="4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projet consiste à reproduire un réseau d’entreprise</a:t>
            </a:r>
          </a:p>
          <a:p>
            <a:r>
              <a:rPr lang="fr-FR" sz="4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dans un laboratoire virtuel local.</a:t>
            </a:r>
          </a:p>
          <a:p>
            <a:endParaRPr lang="fr-FR" sz="4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fr-FR" sz="42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fr-FR" sz="4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Le laboratoire est construit avec des outils gratuits</a:t>
            </a:r>
          </a:p>
          <a:p>
            <a:r>
              <a:rPr lang="fr-FR" sz="42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fr-FR" sz="4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et open source, sans matériel réseau dédié.</a:t>
            </a:r>
          </a:p>
          <a:p>
            <a:endParaRPr lang="fr-FR" sz="4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fr-FR" sz="4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Problématique :</a:t>
            </a:r>
          </a:p>
          <a:p>
            <a:endParaRPr lang="fr-FR" sz="4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fr-FR" sz="4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Comment concevoir une infrastructure réseau virtuelle,</a:t>
            </a:r>
          </a:p>
          <a:p>
            <a:r>
              <a:rPr lang="fr-FR" sz="4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sécurisée et supervisée, capable de détecter</a:t>
            </a:r>
          </a:p>
          <a:p>
            <a:r>
              <a:rPr lang="fr-FR" sz="4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des comportements anormaux ?</a:t>
            </a:r>
          </a:p>
        </p:txBody>
      </p:sp>
      <p:pic>
        <p:nvPicPr>
          <p:cNvPr id="4" name="Image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53451" y="486192"/>
            <a:ext cx="2377440" cy="10368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3156775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103312" y="295964"/>
            <a:ext cx="9404723" cy="840505"/>
          </a:xfrm>
        </p:spPr>
        <p:txBody>
          <a:bodyPr/>
          <a:lstStyle/>
          <a:p>
            <a:r>
              <a:rPr lang="fr-FR" dirty="0" smtClean="0"/>
              <a:t>               </a:t>
            </a:r>
            <a:r>
              <a:rPr lang="fr-FR" sz="28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Objectifs </a:t>
            </a:r>
            <a:r>
              <a:rPr lang="fr-FR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du projet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Concevoir </a:t>
            </a:r>
            <a:r>
              <a:rPr lang="fr-FR" dirty="0">
                <a:latin typeface="Times New Roman" panose="02020603050405020304" pitchFamily="18" charset="0"/>
                <a:cs typeface="Times New Roman" panose="02020603050405020304" pitchFamily="18" charset="0"/>
              </a:rPr>
              <a:t>une architecture réseau virtuelle LAN / DMZ.</a:t>
            </a:r>
          </a:p>
          <a:p>
            <a:r>
              <a:rPr lang="fr-FR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Configurer </a:t>
            </a:r>
            <a:r>
              <a:rPr lang="fr-FR" dirty="0">
                <a:latin typeface="Times New Roman" panose="02020603050405020304" pitchFamily="18" charset="0"/>
                <a:cs typeface="Times New Roman" panose="02020603050405020304" pitchFamily="18" charset="0"/>
              </a:rPr>
              <a:t>le routage, le NAT, le DHCP et le DNS.</a:t>
            </a:r>
          </a:p>
          <a:p>
            <a:r>
              <a:rPr lang="fr-FR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Déployer </a:t>
            </a:r>
            <a:r>
              <a:rPr lang="fr-FR" dirty="0">
                <a:latin typeface="Times New Roman" panose="02020603050405020304" pitchFamily="18" charset="0"/>
                <a:cs typeface="Times New Roman" panose="02020603050405020304" pitchFamily="18" charset="0"/>
              </a:rPr>
              <a:t>un pare-feu </a:t>
            </a:r>
            <a:r>
              <a:rPr lang="fr-FR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pf</a:t>
            </a:r>
            <a:r>
              <a:rPr lang="fr-FR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sense</a:t>
            </a:r>
            <a:r>
              <a:rPr lang="fr-FR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r>
              <a:rPr lang="fr-FR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Mettre </a:t>
            </a:r>
            <a:r>
              <a:rPr lang="fr-FR" dirty="0">
                <a:latin typeface="Times New Roman" panose="02020603050405020304" pitchFamily="18" charset="0"/>
                <a:cs typeface="Times New Roman" panose="02020603050405020304" pitchFamily="18" charset="0"/>
              </a:rPr>
              <a:t>en place des règles de filtrage et de segmentation.</a:t>
            </a:r>
          </a:p>
          <a:p>
            <a:r>
              <a:rPr lang="fr-FR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Déployer </a:t>
            </a:r>
            <a:r>
              <a:rPr lang="fr-FR" dirty="0">
                <a:latin typeface="Times New Roman" panose="02020603050405020304" pitchFamily="18" charset="0"/>
                <a:cs typeface="Times New Roman" panose="02020603050405020304" pitchFamily="18" charset="0"/>
              </a:rPr>
              <a:t>un serveur Web dans la DMZ.</a:t>
            </a:r>
          </a:p>
          <a:p>
            <a:r>
              <a:rPr lang="fr-FR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Mettre </a:t>
            </a:r>
            <a:r>
              <a:rPr lang="fr-FR" dirty="0">
                <a:latin typeface="Times New Roman" panose="02020603050405020304" pitchFamily="18" charset="0"/>
                <a:cs typeface="Times New Roman" panose="02020603050405020304" pitchFamily="18" charset="0"/>
              </a:rPr>
              <a:t>en place un accès distant VPN.</a:t>
            </a:r>
          </a:p>
          <a:p>
            <a:r>
              <a:rPr lang="fr-FR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Superviser </a:t>
            </a:r>
            <a:r>
              <a:rPr lang="fr-FR" dirty="0">
                <a:latin typeface="Times New Roman" panose="02020603050405020304" pitchFamily="18" charset="0"/>
                <a:cs typeface="Times New Roman" panose="02020603050405020304" pitchFamily="18" charset="0"/>
              </a:rPr>
              <a:t>les machines avec Prometheus et Grafana.</a:t>
            </a:r>
          </a:p>
          <a:p>
            <a:r>
              <a:rPr lang="fr-FR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Automatiser </a:t>
            </a:r>
            <a:r>
              <a:rPr lang="fr-FR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des contrôles réseau avec Python.</a:t>
            </a:r>
          </a:p>
          <a:p>
            <a:r>
              <a:rPr lang="fr-FR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Mettre </a:t>
            </a:r>
            <a:r>
              <a:rPr lang="fr-FR" dirty="0">
                <a:latin typeface="Times New Roman" panose="02020603050405020304" pitchFamily="18" charset="0"/>
                <a:cs typeface="Times New Roman" panose="02020603050405020304" pitchFamily="18" charset="0"/>
              </a:rPr>
              <a:t>en œuvre un prototype de détection d’anomalies.</a:t>
            </a:r>
          </a:p>
        </p:txBody>
      </p:sp>
    </p:spTree>
    <p:extLst>
      <p:ext uri="{BB962C8B-B14F-4D97-AF65-F5344CB8AC3E}">
        <p14:creationId xmlns:p14="http://schemas.microsoft.com/office/powerpoint/2010/main" val="416253831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998808" y="374341"/>
            <a:ext cx="9404723" cy="683751"/>
          </a:xfrm>
        </p:spPr>
        <p:txBody>
          <a:bodyPr/>
          <a:lstStyle/>
          <a:p>
            <a:r>
              <a:rPr lang="fr-FR" sz="3200" dirty="0" smtClean="0"/>
              <a:t>        </a:t>
            </a:r>
            <a:r>
              <a:rPr lang="fr-FR" sz="28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Méthodologie </a:t>
            </a:r>
            <a:r>
              <a:rPr lang="fr-FR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et déroulement </a:t>
            </a:r>
            <a:r>
              <a:rPr lang="fr-FR" sz="28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du projet</a:t>
            </a:r>
            <a:endParaRPr lang="fr-FR" sz="28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300446" y="1267097"/>
            <a:ext cx="11299371" cy="5368834"/>
          </a:xfrm>
        </p:spPr>
        <p:txBody>
          <a:bodyPr/>
          <a:lstStyle/>
          <a:p>
            <a:pPr marL="0" indent="0">
              <a:buNone/>
            </a:pPr>
            <a:endParaRPr lang="fr-FR" dirty="0"/>
          </a:p>
        </p:txBody>
      </p:sp>
      <p:sp>
        <p:nvSpPr>
          <p:cNvPr id="4" name="Rectangle à coins arrondis 3"/>
          <p:cNvSpPr/>
          <p:nvPr/>
        </p:nvSpPr>
        <p:spPr>
          <a:xfrm>
            <a:off x="300446" y="1293396"/>
            <a:ext cx="4789020" cy="1968022"/>
          </a:xfrm>
          <a:prstGeom prst="roundRect">
            <a:avLst/>
          </a:prstGeom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Semaine 1</a:t>
            </a:r>
          </a:p>
          <a:p>
            <a:pPr algn="ctr"/>
            <a:r>
              <a:rPr lang="fr-FR" dirty="0"/>
              <a:t>Architecture et laboratoire virtuel</a:t>
            </a:r>
          </a:p>
          <a:p>
            <a:pPr algn="ctr"/>
            <a:r>
              <a:rPr lang="fr-FR" dirty="0"/>
              <a:t>• VirtualBox</a:t>
            </a:r>
          </a:p>
          <a:p>
            <a:pPr algn="ctr"/>
            <a:r>
              <a:rPr lang="fr-FR" dirty="0"/>
              <a:t>• Plan IP</a:t>
            </a:r>
          </a:p>
          <a:p>
            <a:pPr algn="ctr"/>
            <a:r>
              <a:rPr lang="fr-FR" dirty="0"/>
              <a:t>• </a:t>
            </a:r>
            <a:r>
              <a:rPr lang="fr-FR" dirty="0" smtClean="0"/>
              <a:t>pf</a:t>
            </a:r>
            <a:r>
              <a:rPr lang="fr-FR" dirty="0" smtClean="0"/>
              <a:t>sense</a:t>
            </a:r>
            <a:endParaRPr lang="fr-FR" dirty="0"/>
          </a:p>
          <a:p>
            <a:pPr algn="ctr"/>
            <a:r>
              <a:rPr lang="fr-FR" dirty="0"/>
              <a:t>• Tests de connectivité</a:t>
            </a:r>
          </a:p>
        </p:txBody>
      </p:sp>
      <p:sp>
        <p:nvSpPr>
          <p:cNvPr id="5" name="Rectangle à coins arrondis 4"/>
          <p:cNvSpPr/>
          <p:nvPr/>
        </p:nvSpPr>
        <p:spPr>
          <a:xfrm>
            <a:off x="5792342" y="1267097"/>
            <a:ext cx="4611189" cy="1974169"/>
          </a:xfrm>
          <a:prstGeom prst="roundRect">
            <a:avLst/>
          </a:prstGeom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Semaine 2</a:t>
            </a:r>
          </a:p>
          <a:p>
            <a:pPr algn="ctr"/>
            <a:r>
              <a:rPr lang="fr-FR" dirty="0"/>
              <a:t>Sécurisation</a:t>
            </a:r>
          </a:p>
          <a:p>
            <a:pPr algn="ctr"/>
            <a:r>
              <a:rPr lang="fr-FR" dirty="0"/>
              <a:t>• LAN / DMZ</a:t>
            </a:r>
          </a:p>
          <a:p>
            <a:pPr algn="ctr"/>
            <a:r>
              <a:rPr lang="fr-FR" dirty="0"/>
              <a:t>• Firewall</a:t>
            </a:r>
          </a:p>
          <a:p>
            <a:pPr algn="ctr"/>
            <a:r>
              <a:rPr lang="fr-FR" dirty="0"/>
              <a:t>• NAT</a:t>
            </a:r>
          </a:p>
          <a:p>
            <a:pPr algn="ctr"/>
            <a:r>
              <a:rPr lang="fr-FR" dirty="0"/>
              <a:t>• Serveur Web</a:t>
            </a:r>
          </a:p>
          <a:p>
            <a:pPr algn="ctr"/>
            <a:r>
              <a:rPr lang="fr-FR" dirty="0"/>
              <a:t>• VPN</a:t>
            </a:r>
          </a:p>
        </p:txBody>
      </p:sp>
      <p:sp>
        <p:nvSpPr>
          <p:cNvPr id="6" name="Rectangle à coins arrondis 5"/>
          <p:cNvSpPr/>
          <p:nvPr/>
        </p:nvSpPr>
        <p:spPr>
          <a:xfrm>
            <a:off x="465214" y="3951514"/>
            <a:ext cx="4624252" cy="2076995"/>
          </a:xfrm>
          <a:prstGeom prst="roundRect">
            <a:avLst/>
          </a:prstGeom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Semaine 3</a:t>
            </a:r>
          </a:p>
          <a:p>
            <a:pPr algn="ctr"/>
            <a:r>
              <a:rPr lang="fr-FR" dirty="0"/>
              <a:t>Supervision</a:t>
            </a:r>
          </a:p>
          <a:p>
            <a:pPr algn="ctr"/>
            <a:r>
              <a:rPr lang="fr-FR" dirty="0"/>
              <a:t>• Prometheus</a:t>
            </a:r>
          </a:p>
          <a:p>
            <a:pPr algn="ctr"/>
            <a:r>
              <a:rPr lang="fr-FR" dirty="0"/>
              <a:t>• Grafana</a:t>
            </a:r>
          </a:p>
          <a:p>
            <a:pPr algn="ctr"/>
            <a:r>
              <a:rPr lang="fr-FR" dirty="0"/>
              <a:t>• Dashboard</a:t>
            </a:r>
          </a:p>
          <a:p>
            <a:pPr algn="ctr"/>
            <a:r>
              <a:rPr lang="fr-FR" dirty="0"/>
              <a:t>• Alertes</a:t>
            </a:r>
          </a:p>
          <a:p>
            <a:pPr algn="ctr"/>
            <a:r>
              <a:rPr lang="fr-FR" dirty="0"/>
              <a:t>• Tests de pannes</a:t>
            </a:r>
          </a:p>
        </p:txBody>
      </p:sp>
      <p:sp>
        <p:nvSpPr>
          <p:cNvPr id="7" name="Rectangle à coins arrondis 6"/>
          <p:cNvSpPr/>
          <p:nvPr/>
        </p:nvSpPr>
        <p:spPr>
          <a:xfrm>
            <a:off x="5765448" y="4024198"/>
            <a:ext cx="4585063" cy="1828800"/>
          </a:xfrm>
          <a:prstGeom prst="roundRect">
            <a:avLst/>
          </a:prstGeom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Semaine 4</a:t>
            </a:r>
          </a:p>
          <a:p>
            <a:pPr algn="ctr"/>
            <a:r>
              <a:rPr lang="fr-FR" dirty="0"/>
              <a:t>Automatisation et finalisation</a:t>
            </a:r>
          </a:p>
          <a:p>
            <a:pPr algn="ctr"/>
            <a:r>
              <a:rPr lang="fr-FR" dirty="0"/>
              <a:t>• Scripts Python</a:t>
            </a:r>
          </a:p>
          <a:p>
            <a:pPr algn="ctr"/>
            <a:r>
              <a:rPr lang="fr-FR" dirty="0"/>
              <a:t>• Détection d’anomalies</a:t>
            </a:r>
          </a:p>
          <a:p>
            <a:pPr algn="ctr"/>
            <a:r>
              <a:rPr lang="fr-FR" dirty="0"/>
              <a:t>• Documentation</a:t>
            </a:r>
          </a:p>
          <a:p>
            <a:pPr algn="ctr"/>
            <a:r>
              <a:rPr lang="fr-FR" dirty="0"/>
              <a:t>• Démonstration</a:t>
            </a:r>
          </a:p>
        </p:txBody>
      </p:sp>
    </p:spTree>
    <p:extLst>
      <p:ext uri="{BB962C8B-B14F-4D97-AF65-F5344CB8AC3E}">
        <p14:creationId xmlns:p14="http://schemas.microsoft.com/office/powerpoint/2010/main" val="148196366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685300" y="204524"/>
            <a:ext cx="9404723" cy="814379"/>
          </a:xfrm>
        </p:spPr>
        <p:txBody>
          <a:bodyPr/>
          <a:lstStyle/>
          <a:p>
            <a:r>
              <a:rPr lang="fr-FR" dirty="0" smtClean="0"/>
              <a:t>   </a:t>
            </a:r>
            <a:r>
              <a:rPr lang="fr-FR" dirty="0" smtClean="0"/>
              <a:t>          </a:t>
            </a:r>
            <a:r>
              <a:rPr lang="fr-FR" sz="28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Environnement </a:t>
            </a:r>
            <a:r>
              <a:rPr lang="fr-FR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technique utilisé</a:t>
            </a:r>
          </a:p>
        </p:txBody>
      </p:sp>
      <p:graphicFrame>
        <p:nvGraphicFramePr>
          <p:cNvPr id="4" name="Espace réservé du contenu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829828103"/>
              </p:ext>
            </p:extLst>
          </p:nvPr>
        </p:nvGraphicFramePr>
        <p:xfrm>
          <a:off x="1084589" y="1267097"/>
          <a:ext cx="8861742" cy="534507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53914">
                  <a:extLst>
                    <a:ext uri="{9D8B030D-6E8A-4147-A177-3AD203B41FA5}">
                      <a16:colId xmlns:a16="http://schemas.microsoft.com/office/drawing/2014/main" val="2904165524"/>
                    </a:ext>
                  </a:extLst>
                </a:gridCol>
                <a:gridCol w="2953914">
                  <a:extLst>
                    <a:ext uri="{9D8B030D-6E8A-4147-A177-3AD203B41FA5}">
                      <a16:colId xmlns:a16="http://schemas.microsoft.com/office/drawing/2014/main" val="1346403488"/>
                    </a:ext>
                  </a:extLst>
                </a:gridCol>
                <a:gridCol w="2953914">
                  <a:extLst>
                    <a:ext uri="{9D8B030D-6E8A-4147-A177-3AD203B41FA5}">
                      <a16:colId xmlns:a16="http://schemas.microsoft.com/office/drawing/2014/main" val="2150613433"/>
                    </a:ext>
                  </a:extLst>
                </a:gridCol>
              </a:tblGrid>
              <a:tr h="356240">
                <a:tc>
                  <a:txBody>
                    <a:bodyPr/>
                    <a:lstStyle/>
                    <a:p>
                      <a:r>
                        <a:rPr lang="fr-FR" dirty="0" smtClean="0"/>
                        <a:t>Composant</a:t>
                      </a:r>
                      <a:endParaRPr lang="fr-FR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fr-FR" dirty="0" smtClean="0"/>
                        <a:t>Outil</a:t>
                      </a:r>
                      <a:endParaRPr lang="fr-FR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fr-FR" dirty="0" smtClean="0"/>
                        <a:t>Rôle</a:t>
                      </a:r>
                      <a:endParaRPr lang="fr-FR" dirty="0"/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41690323"/>
                  </a:ext>
                </a:extLst>
              </a:tr>
              <a:tr h="643180">
                <a:tc>
                  <a:txBody>
                    <a:bodyPr/>
                    <a:lstStyle/>
                    <a:p>
                      <a:r>
                        <a:rPr lang="fr-FR" sz="1600" dirty="0" smtClean="0"/>
                        <a:t>Virtualisation</a:t>
                      </a:r>
                      <a:endParaRPr lang="fr-FR" sz="1600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fr-FR" sz="1600" dirty="0" smtClean="0"/>
                        <a:t>VirtualBox</a:t>
                      </a:r>
                      <a:endParaRPr lang="fr-FR" sz="1600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fr-FR" sz="1600" dirty="0" smtClean="0"/>
                        <a:t>Machines et réseaux virtuels</a:t>
                      </a:r>
                      <a:endParaRPr lang="fr-FR" sz="1600" dirty="0"/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27600847"/>
                  </a:ext>
                </a:extLst>
              </a:tr>
              <a:tr h="724877">
                <a:tc>
                  <a:txBody>
                    <a:bodyPr/>
                    <a:lstStyle/>
                    <a:p>
                      <a:r>
                        <a:rPr lang="fr-FR" sz="1600" dirty="0" smtClean="0"/>
                        <a:t>Firewall / routeur</a:t>
                      </a:r>
                      <a:endParaRPr lang="fr-FR" sz="1600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fr-FR" sz="1600" dirty="0" smtClean="0"/>
                        <a:t>pfsense</a:t>
                      </a:r>
                      <a:endParaRPr lang="fr-FR" sz="1600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fr-FR" sz="1600" dirty="0" smtClean="0"/>
                        <a:t>Routage, NAT, filtrage et segmentation</a:t>
                      </a:r>
                      <a:endParaRPr lang="fr-FR" sz="1600" dirty="0"/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21818838"/>
                  </a:ext>
                </a:extLst>
              </a:tr>
              <a:tr h="367532">
                <a:tc>
                  <a:txBody>
                    <a:bodyPr/>
                    <a:lstStyle/>
                    <a:p>
                      <a:r>
                        <a:rPr lang="fr-FR" sz="1600" dirty="0" smtClean="0"/>
                        <a:t>Serveurs</a:t>
                      </a:r>
                      <a:endParaRPr lang="fr-FR" sz="1600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fr-FR" sz="1600" dirty="0" smtClean="0"/>
                        <a:t>Ubuntu Server</a:t>
                      </a:r>
                      <a:endParaRPr lang="fr-FR" sz="1600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fr-FR" sz="1600" dirty="0" smtClean="0"/>
                        <a:t>Web, monitoring et tests</a:t>
                      </a:r>
                      <a:endParaRPr lang="fr-FR" sz="1600" dirty="0"/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63083426"/>
                  </a:ext>
                </a:extLst>
              </a:tr>
              <a:tr h="367532">
                <a:tc>
                  <a:txBody>
                    <a:bodyPr/>
                    <a:lstStyle/>
                    <a:p>
                      <a:r>
                        <a:rPr lang="fr-FR" sz="1600" dirty="0" smtClean="0"/>
                        <a:t>VPN</a:t>
                      </a:r>
                      <a:endParaRPr lang="fr-FR" sz="1600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fr-FR" sz="1600" dirty="0" smtClean="0"/>
                        <a:t>WireGuard / OpenVPN</a:t>
                      </a:r>
                      <a:endParaRPr lang="fr-FR" sz="1600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fr-FR" sz="1600" dirty="0" smtClean="0"/>
                        <a:t>Accès distant sécurisé</a:t>
                      </a:r>
                      <a:endParaRPr lang="fr-FR" sz="1600" dirty="0"/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02719303"/>
                  </a:ext>
                </a:extLst>
              </a:tr>
              <a:tr h="367532">
                <a:tc>
                  <a:txBody>
                    <a:bodyPr/>
                    <a:lstStyle/>
                    <a:p>
                      <a:r>
                        <a:rPr lang="fr-FR" sz="1600" dirty="0" smtClean="0"/>
                        <a:t>Supervision</a:t>
                      </a:r>
                      <a:endParaRPr lang="fr-FR" sz="1600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fr-FR" sz="1600" dirty="0" smtClean="0"/>
                        <a:t>Prometheus</a:t>
                      </a:r>
                      <a:endParaRPr lang="fr-FR" sz="1600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fr-FR" sz="1600" dirty="0" smtClean="0"/>
                        <a:t>Collecte des métriques</a:t>
                      </a:r>
                      <a:endParaRPr lang="fr-FR" sz="1600" dirty="0"/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10581091"/>
                  </a:ext>
                </a:extLst>
              </a:tr>
              <a:tr h="367532">
                <a:tc>
                  <a:txBody>
                    <a:bodyPr/>
                    <a:lstStyle/>
                    <a:p>
                      <a:r>
                        <a:rPr lang="fr-FR" sz="1600" dirty="0" smtClean="0"/>
                        <a:t>Visualisation</a:t>
                      </a:r>
                      <a:endParaRPr lang="fr-FR" sz="1600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fr-FR" sz="1600" dirty="0" smtClean="0"/>
                        <a:t>Grafana</a:t>
                      </a:r>
                      <a:endParaRPr lang="fr-FR" sz="1600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fr-FR" sz="1600" dirty="0" smtClean="0"/>
                        <a:t>Dashboards et alertes</a:t>
                      </a:r>
                      <a:endParaRPr lang="fr-FR" sz="1600" dirty="0"/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61430718"/>
                  </a:ext>
                </a:extLst>
              </a:tr>
              <a:tr h="643180">
                <a:tc>
                  <a:txBody>
                    <a:bodyPr/>
                    <a:lstStyle/>
                    <a:p>
                      <a:r>
                        <a:rPr lang="fr-FR" sz="1600" dirty="0" smtClean="0"/>
                        <a:t>Automatisation</a:t>
                      </a:r>
                      <a:endParaRPr lang="fr-FR" sz="1600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fr-FR" sz="1600" dirty="0" smtClean="0"/>
                        <a:t>Python</a:t>
                      </a:r>
                      <a:endParaRPr lang="fr-FR" sz="1600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fr-FR" sz="1600" dirty="0" smtClean="0"/>
                        <a:t>Scripts de contrôle et traitement</a:t>
                      </a:r>
                      <a:endParaRPr lang="fr-FR" sz="1600" dirty="0"/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96180238"/>
                  </a:ext>
                </a:extLst>
              </a:tr>
              <a:tr h="918828">
                <a:tc>
                  <a:txBody>
                    <a:bodyPr/>
                    <a:lstStyle/>
                    <a:p>
                      <a:r>
                        <a:rPr lang="fr-FR" sz="1600" dirty="0" smtClean="0"/>
                        <a:t>Détection d’anomalies</a:t>
                      </a:r>
                      <a:endParaRPr lang="fr-FR" sz="1600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fr-FR" sz="1600" dirty="0" smtClean="0"/>
                        <a:t>scikit-learn</a:t>
                      </a:r>
                      <a:endParaRPr lang="fr-FR" sz="1600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fr-FR" sz="1600" dirty="0" smtClean="0"/>
                        <a:t>Identification de comportements inhabituels</a:t>
                      </a:r>
                      <a:endParaRPr lang="fr-FR" sz="1600" dirty="0"/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22944335"/>
                  </a:ext>
                </a:extLst>
              </a:tr>
              <a:tr h="367532">
                <a:tc>
                  <a:txBody>
                    <a:bodyPr/>
                    <a:lstStyle/>
                    <a:p>
                      <a:r>
                        <a:rPr lang="fr-FR" sz="1600" dirty="0" smtClean="0"/>
                        <a:t>Versioning</a:t>
                      </a:r>
                      <a:endParaRPr lang="fr-FR" sz="1600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fr-FR" sz="1600" dirty="0" smtClean="0"/>
                        <a:t>Git / GitHub</a:t>
                      </a:r>
                      <a:endParaRPr lang="fr-FR" sz="1600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fr-FR" sz="1600" dirty="0"/>
                        <a:t>Historique, documentation et organisation du projet</a:t>
                      </a:r>
                    </a:p>
                  </a:txBody>
                  <a:tcPr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5818347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83055621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646111" y="452718"/>
            <a:ext cx="9404723" cy="905819"/>
          </a:xfrm>
        </p:spPr>
        <p:txBody>
          <a:bodyPr/>
          <a:lstStyle/>
          <a:p>
            <a:r>
              <a:rPr lang="fr-FR" sz="28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                Capture </a:t>
            </a:r>
            <a:r>
              <a:rPr lang="fr-FR" sz="28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VirtualBox avec les 4 machines</a:t>
            </a:r>
            <a:endParaRPr lang="fr-FR" sz="28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Espace réservé du contenu 3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69249" y="1593669"/>
            <a:ext cx="7701322" cy="4480560"/>
          </a:xfrm>
        </p:spPr>
      </p:pic>
    </p:spTree>
    <p:extLst>
      <p:ext uri="{BB962C8B-B14F-4D97-AF65-F5344CB8AC3E}">
        <p14:creationId xmlns:p14="http://schemas.microsoft.com/office/powerpoint/2010/main" val="293161628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646111" y="452718"/>
            <a:ext cx="9404723" cy="931945"/>
          </a:xfrm>
        </p:spPr>
        <p:txBody>
          <a:bodyPr/>
          <a:lstStyle/>
          <a:p>
            <a:r>
              <a:rPr lang="fr-FR" sz="28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                      Architecture </a:t>
            </a:r>
            <a:r>
              <a:rPr lang="fr-FR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réseau du laboratoire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fr-FR" dirty="0"/>
              <a:t>L’architecture est organisée autour d’un pare-feu </a:t>
            </a:r>
            <a:r>
              <a:rPr lang="fr-FR" dirty="0" smtClean="0"/>
              <a:t>pf</a:t>
            </a:r>
            <a:r>
              <a:rPr lang="fr-FR" dirty="0" smtClean="0"/>
              <a:t>sense</a:t>
            </a:r>
            <a:r>
              <a:rPr lang="fr-FR" dirty="0"/>
              <a:t>.</a:t>
            </a:r>
          </a:p>
          <a:p>
            <a:endParaRPr lang="fr-FR" dirty="0"/>
          </a:p>
          <a:p>
            <a:r>
              <a:rPr lang="fr-FR" dirty="0" smtClean="0"/>
              <a:t>pf</a:t>
            </a:r>
            <a:r>
              <a:rPr lang="fr-FR" dirty="0" smtClean="0"/>
              <a:t>sense </a:t>
            </a:r>
            <a:r>
              <a:rPr lang="fr-FR" dirty="0"/>
              <a:t>assure :</a:t>
            </a:r>
          </a:p>
          <a:p>
            <a:r>
              <a:rPr lang="fr-FR" dirty="0" smtClean="0"/>
              <a:t>Le </a:t>
            </a:r>
            <a:r>
              <a:rPr lang="fr-FR" dirty="0"/>
              <a:t>routage entre les réseaux</a:t>
            </a:r>
          </a:p>
          <a:p>
            <a:r>
              <a:rPr lang="fr-FR" dirty="0" smtClean="0"/>
              <a:t>Le </a:t>
            </a:r>
            <a:r>
              <a:rPr lang="fr-FR" dirty="0"/>
              <a:t>NAT vers Internet simulé</a:t>
            </a:r>
          </a:p>
          <a:p>
            <a:r>
              <a:rPr lang="fr-FR" dirty="0" smtClean="0"/>
              <a:t>La </a:t>
            </a:r>
            <a:r>
              <a:rPr lang="fr-FR" dirty="0"/>
              <a:t>segmentation entre le LAN et la DMZ</a:t>
            </a:r>
          </a:p>
          <a:p>
            <a:r>
              <a:rPr lang="fr-FR" dirty="0" smtClean="0"/>
              <a:t>Le </a:t>
            </a:r>
            <a:r>
              <a:rPr lang="fr-FR" dirty="0"/>
              <a:t>filtrage des flux réseau</a:t>
            </a:r>
          </a:p>
          <a:p>
            <a:r>
              <a:rPr lang="fr-FR" dirty="0" smtClean="0"/>
              <a:t>Les </a:t>
            </a:r>
            <a:r>
              <a:rPr lang="fr-FR" dirty="0"/>
              <a:t>services réseau nécessaires au laboratoire</a:t>
            </a:r>
          </a:p>
          <a:p>
            <a:endParaRPr lang="fr-FR" dirty="0"/>
          </a:p>
          <a:p>
            <a:r>
              <a:rPr lang="fr-FR" dirty="0"/>
              <a:t>Le LAN contient les postes internes et le serveur de supervision.</a:t>
            </a:r>
          </a:p>
          <a:p>
            <a:r>
              <a:rPr lang="fr-FR" dirty="0"/>
              <a:t>La DMZ contient le serveur Web afin de l’isoler du réseau interne.</a:t>
            </a:r>
          </a:p>
        </p:txBody>
      </p:sp>
    </p:spTree>
    <p:extLst>
      <p:ext uri="{BB962C8B-B14F-4D97-AF65-F5344CB8AC3E}">
        <p14:creationId xmlns:p14="http://schemas.microsoft.com/office/powerpoint/2010/main" val="378510851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646110" y="100022"/>
            <a:ext cx="9404723" cy="892756"/>
          </a:xfrm>
        </p:spPr>
        <p:txBody>
          <a:bodyPr/>
          <a:lstStyle/>
          <a:p>
            <a:r>
              <a:rPr lang="fr-FR" dirty="0" smtClean="0"/>
              <a:t>              </a:t>
            </a:r>
            <a:r>
              <a:rPr lang="fr-FR" dirty="0" smtClean="0"/>
              <a:t>       </a:t>
            </a:r>
            <a:r>
              <a:rPr lang="fr-FR" sz="28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Voici </a:t>
            </a:r>
            <a:r>
              <a:rPr lang="fr-FR" sz="28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l’architecture</a:t>
            </a:r>
            <a:endParaRPr lang="fr-FR" sz="28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Espace réservé du contenu 3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43570" y="1152983"/>
            <a:ext cx="6609804" cy="5287006"/>
          </a:xfrm>
        </p:spPr>
      </p:pic>
    </p:spTree>
    <p:extLst>
      <p:ext uri="{BB962C8B-B14F-4D97-AF65-F5344CB8AC3E}">
        <p14:creationId xmlns:p14="http://schemas.microsoft.com/office/powerpoint/2010/main" val="128201962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103312" y="100021"/>
            <a:ext cx="9404723" cy="905819"/>
          </a:xfrm>
        </p:spPr>
        <p:txBody>
          <a:bodyPr/>
          <a:lstStyle/>
          <a:p>
            <a:r>
              <a:rPr lang="fr-FR" dirty="0" smtClean="0"/>
              <a:t>          </a:t>
            </a:r>
            <a:r>
              <a:rPr lang="fr-FR" sz="28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L’adresse IP des machines</a:t>
            </a:r>
            <a:endParaRPr lang="fr-FR" sz="28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 smtClean="0"/>
              <a:t> </a:t>
            </a:r>
            <a:r>
              <a:rPr lang="fr-FR" dirty="0">
                <a:latin typeface="Times New Roman" panose="02020603050405020304" pitchFamily="18" charset="0"/>
                <a:cs typeface="Times New Roman" panose="02020603050405020304" pitchFamily="18" charset="0"/>
              </a:rPr>
              <a:t>LAN : </a:t>
            </a:r>
            <a:r>
              <a:rPr lang="fr-FR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192.168.1.0/24</a:t>
            </a:r>
            <a:endParaRPr lang="fr-FR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fr-FR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fr-FR" dirty="0">
                <a:latin typeface="Times New Roman" panose="02020603050405020304" pitchFamily="18" charset="0"/>
                <a:cs typeface="Times New Roman" panose="02020603050405020304" pitchFamily="18" charset="0"/>
              </a:rPr>
              <a:t>DMZ : </a:t>
            </a:r>
            <a:r>
              <a:rPr lang="fr-FR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192.168.2.0/24</a:t>
            </a:r>
            <a:endParaRPr lang="fr-FR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fr-FR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fr-FR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pf</a:t>
            </a:r>
            <a:r>
              <a:rPr lang="fr-FR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sense </a:t>
            </a:r>
            <a:r>
              <a:rPr lang="fr-FR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routage, NAT, filtrage et segmentation</a:t>
            </a:r>
          </a:p>
          <a:p>
            <a:r>
              <a:rPr lang="fr-FR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Serveur </a:t>
            </a:r>
            <a:r>
              <a:rPr lang="fr-FR" dirty="0">
                <a:latin typeface="Times New Roman" panose="02020603050405020304" pitchFamily="18" charset="0"/>
                <a:cs typeface="Times New Roman" panose="02020603050405020304" pitchFamily="18" charset="0"/>
              </a:rPr>
              <a:t>Web isolé dans la DMZ</a:t>
            </a:r>
          </a:p>
          <a:p>
            <a:r>
              <a:rPr lang="fr-FR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fr-FR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Prometheus </a:t>
            </a:r>
            <a:r>
              <a:rPr lang="fr-FR" dirty="0">
                <a:latin typeface="Times New Roman" panose="02020603050405020304" pitchFamily="18" charset="0"/>
                <a:cs typeface="Times New Roman" panose="02020603050405020304" pitchFamily="18" charset="0"/>
              </a:rPr>
              <a:t>/ Grafana dans le LAN</a:t>
            </a:r>
          </a:p>
        </p:txBody>
      </p:sp>
    </p:spTree>
    <p:extLst>
      <p:ext uri="{BB962C8B-B14F-4D97-AF65-F5344CB8AC3E}">
        <p14:creationId xmlns:p14="http://schemas.microsoft.com/office/powerpoint/2010/main" val="157681751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645739" y="165335"/>
            <a:ext cx="9404723" cy="775191"/>
          </a:xfrm>
        </p:spPr>
        <p:txBody>
          <a:bodyPr/>
          <a:lstStyle/>
          <a:p>
            <a:r>
              <a:rPr lang="fr-FR" sz="28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                               Plan </a:t>
            </a:r>
            <a:r>
              <a:rPr lang="fr-FR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d’adressage IP</a:t>
            </a:r>
          </a:p>
        </p:txBody>
      </p:sp>
      <p:graphicFrame>
        <p:nvGraphicFramePr>
          <p:cNvPr id="4" name="Espace réservé du contenu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46095017"/>
              </p:ext>
            </p:extLst>
          </p:nvPr>
        </p:nvGraphicFramePr>
        <p:xfrm>
          <a:off x="1103313" y="2052638"/>
          <a:ext cx="8947149" cy="300196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82383">
                  <a:extLst>
                    <a:ext uri="{9D8B030D-6E8A-4147-A177-3AD203B41FA5}">
                      <a16:colId xmlns:a16="http://schemas.microsoft.com/office/drawing/2014/main" val="2168687998"/>
                    </a:ext>
                  </a:extLst>
                </a:gridCol>
                <a:gridCol w="2982383">
                  <a:extLst>
                    <a:ext uri="{9D8B030D-6E8A-4147-A177-3AD203B41FA5}">
                      <a16:colId xmlns:a16="http://schemas.microsoft.com/office/drawing/2014/main" val="28043591"/>
                    </a:ext>
                  </a:extLst>
                </a:gridCol>
                <a:gridCol w="2982383">
                  <a:extLst>
                    <a:ext uri="{9D8B030D-6E8A-4147-A177-3AD203B41FA5}">
                      <a16:colId xmlns:a16="http://schemas.microsoft.com/office/drawing/2014/main" val="15831523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fr-FR" dirty="0" smtClean="0"/>
                        <a:t>Équipement / réseau</a:t>
                      </a:r>
                      <a:endParaRPr lang="fr-FR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fr-FR" dirty="0" smtClean="0"/>
                        <a:t>Adresse IP</a:t>
                      </a:r>
                      <a:endParaRPr lang="fr-FR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fr-FR" dirty="0" smtClean="0"/>
                        <a:t>Fonction</a:t>
                      </a:r>
                      <a:endParaRPr lang="fr-FR" dirty="0"/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691909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fr-FR" dirty="0" smtClean="0"/>
                        <a:t>WAN </a:t>
                      </a:r>
                      <a:r>
                        <a:rPr lang="fr-FR" dirty="0" smtClean="0"/>
                        <a:t>pfsense</a:t>
                      </a:r>
                      <a:endParaRPr lang="fr-FR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fr-FR" dirty="0" smtClean="0"/>
                        <a:t>DHCP — NAT VirtualBox</a:t>
                      </a:r>
                      <a:endParaRPr lang="fr-FR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fr-FR" dirty="0" smtClean="0"/>
                        <a:t>Internet simulé</a:t>
                      </a:r>
                      <a:endParaRPr lang="fr-FR" dirty="0"/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53744527"/>
                  </a:ext>
                </a:extLst>
              </a:tr>
              <a:tr h="406082">
                <a:tc>
                  <a:txBody>
                    <a:bodyPr/>
                    <a:lstStyle/>
                    <a:p>
                      <a:r>
                        <a:rPr lang="fr-FR" dirty="0" smtClean="0"/>
                        <a:t>LAN </a:t>
                      </a:r>
                      <a:r>
                        <a:rPr lang="fr-FR" dirty="0" smtClean="0"/>
                        <a:t>pfsense</a:t>
                      </a:r>
                      <a:endParaRPr lang="fr-FR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fr-FR" dirty="0" smtClean="0"/>
                        <a:t>192.168.1.1</a:t>
                      </a:r>
                      <a:endParaRPr lang="fr-FR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fr-FR" dirty="0" smtClean="0"/>
                        <a:t>Passerelle LAN</a:t>
                      </a:r>
                      <a:endParaRPr lang="fr-FR" dirty="0"/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689372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fr-FR" dirty="0" smtClean="0"/>
                        <a:t>DMZ </a:t>
                      </a:r>
                      <a:r>
                        <a:rPr lang="fr-FR" dirty="0" smtClean="0"/>
                        <a:t>pfsense</a:t>
                      </a:r>
                      <a:endParaRPr lang="fr-FR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fr-FR" dirty="0" smtClean="0"/>
                        <a:t>192.168.2.1</a:t>
                      </a:r>
                      <a:endParaRPr lang="fr-FR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fr-FR" dirty="0" smtClean="0"/>
                        <a:t>Passerelle DMZ</a:t>
                      </a:r>
                      <a:endParaRPr lang="fr-FR" dirty="0"/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6756998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fr-FR" dirty="0" smtClean="0"/>
                        <a:t>Client Ubuntu</a:t>
                      </a:r>
                      <a:endParaRPr lang="fr-FR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fr-FR" dirty="0" smtClean="0"/>
                        <a:t>192.168.1.30</a:t>
                      </a:r>
                      <a:endParaRPr lang="fr-FR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fr-FR" dirty="0" smtClean="0"/>
                        <a:t>Poste de test</a:t>
                      </a:r>
                      <a:endParaRPr lang="fr-FR" dirty="0"/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2429812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fr-FR" dirty="0" smtClean="0"/>
                        <a:t>Serveur monitoring</a:t>
                      </a:r>
                      <a:endParaRPr lang="fr-FR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fr-FR" dirty="0" smtClean="0"/>
                        <a:t>192.168.1.10</a:t>
                      </a:r>
                      <a:endParaRPr lang="fr-FR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fr-FR" dirty="0" smtClean="0"/>
                        <a:t>Prometheus et Grafana</a:t>
                      </a:r>
                      <a:endParaRPr lang="fr-FR" dirty="0"/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6261792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fr-FR" dirty="0" smtClean="0"/>
                        <a:t>Serveur Web</a:t>
                      </a:r>
                      <a:endParaRPr lang="fr-FR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fr-FR" dirty="0" smtClean="0"/>
                        <a:t>192.168.2.10</a:t>
                      </a:r>
                      <a:endParaRPr lang="fr-FR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fr-FR" dirty="0" smtClean="0"/>
                        <a:t>Nginx / HTTP</a:t>
                      </a:r>
                      <a:endParaRPr lang="fr-FR" dirty="0"/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5035635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fr-FR" dirty="0" smtClean="0"/>
                        <a:t>VPN</a:t>
                      </a:r>
                      <a:endParaRPr lang="fr-FR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fr-FR" dirty="0" smtClean="0"/>
                        <a:t>10.10.10.1</a:t>
                      </a:r>
                      <a:endParaRPr lang="fr-FR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fr-FR" dirty="0" smtClean="0"/>
                        <a:t>Réseau VPN</a:t>
                      </a:r>
                      <a:endParaRPr lang="fr-FR" dirty="0"/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5118498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2454320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646111" y="452718"/>
            <a:ext cx="9404723" cy="788253"/>
          </a:xfrm>
        </p:spPr>
        <p:txBody>
          <a:bodyPr/>
          <a:lstStyle/>
          <a:p>
            <a:r>
              <a:rPr lang="fr-FR" sz="28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                    </a:t>
            </a:r>
            <a:r>
              <a:rPr lang="fr-FR" sz="28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Segmentation </a:t>
            </a:r>
            <a:r>
              <a:rPr lang="fr-FR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réseau et règles firewall</a:t>
            </a:r>
          </a:p>
        </p:txBody>
      </p:sp>
      <p:graphicFrame>
        <p:nvGraphicFramePr>
          <p:cNvPr id="4" name="Espace réservé du contenu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840560373"/>
              </p:ext>
            </p:extLst>
          </p:nvPr>
        </p:nvGraphicFramePr>
        <p:xfrm>
          <a:off x="1103313" y="2052638"/>
          <a:ext cx="8947148" cy="3134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36787">
                  <a:extLst>
                    <a:ext uri="{9D8B030D-6E8A-4147-A177-3AD203B41FA5}">
                      <a16:colId xmlns:a16="http://schemas.microsoft.com/office/drawing/2014/main" val="1789054077"/>
                    </a:ext>
                  </a:extLst>
                </a:gridCol>
                <a:gridCol w="2236787">
                  <a:extLst>
                    <a:ext uri="{9D8B030D-6E8A-4147-A177-3AD203B41FA5}">
                      <a16:colId xmlns:a16="http://schemas.microsoft.com/office/drawing/2014/main" val="1366066597"/>
                    </a:ext>
                  </a:extLst>
                </a:gridCol>
                <a:gridCol w="2236787">
                  <a:extLst>
                    <a:ext uri="{9D8B030D-6E8A-4147-A177-3AD203B41FA5}">
                      <a16:colId xmlns:a16="http://schemas.microsoft.com/office/drawing/2014/main" val="3830542862"/>
                    </a:ext>
                  </a:extLst>
                </a:gridCol>
                <a:gridCol w="2236787">
                  <a:extLst>
                    <a:ext uri="{9D8B030D-6E8A-4147-A177-3AD203B41FA5}">
                      <a16:colId xmlns:a16="http://schemas.microsoft.com/office/drawing/2014/main" val="294061803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fr-FR" dirty="0" smtClean="0"/>
                        <a:t>Source</a:t>
                      </a:r>
                      <a:endParaRPr lang="fr-FR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fr-FR" dirty="0" smtClean="0"/>
                        <a:t>Destination</a:t>
                      </a:r>
                      <a:endParaRPr lang="fr-FR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fr-FR" dirty="0" smtClean="0"/>
                        <a:t>Service</a:t>
                      </a:r>
                      <a:endParaRPr lang="fr-FR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fr-FR" dirty="0" smtClean="0"/>
                        <a:t>Décision</a:t>
                      </a:r>
                      <a:endParaRPr lang="fr-FR" dirty="0"/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2941255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fr-FR" dirty="0" smtClean="0"/>
                        <a:t>LAN</a:t>
                      </a:r>
                      <a:endParaRPr lang="fr-FR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fr-FR" dirty="0" smtClean="0"/>
                        <a:t>Internet</a:t>
                      </a:r>
                      <a:endParaRPr lang="fr-FR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fr-FR" dirty="0" smtClean="0"/>
                        <a:t>HTTP, HTTPS, DNS</a:t>
                      </a:r>
                      <a:endParaRPr lang="fr-FR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fr-FR" dirty="0" smtClean="0"/>
                        <a:t>Autorisé</a:t>
                      </a:r>
                      <a:endParaRPr lang="fr-FR" dirty="0"/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65947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fr-FR" dirty="0" smtClean="0"/>
                        <a:t>LAN</a:t>
                      </a:r>
                      <a:endParaRPr lang="fr-FR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fr-FR" dirty="0" smtClean="0"/>
                        <a:t>DMZ</a:t>
                      </a:r>
                      <a:endParaRPr lang="fr-FR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fr-FR" dirty="0" smtClean="0"/>
                        <a:t>HTTP / HTTPS</a:t>
                      </a:r>
                      <a:endParaRPr lang="fr-FR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fr-FR" dirty="0" smtClean="0"/>
                        <a:t>Autorisé</a:t>
                      </a:r>
                      <a:endParaRPr lang="fr-FR" dirty="0"/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5771478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fr-FR" dirty="0" smtClean="0"/>
                        <a:t>LAN</a:t>
                      </a:r>
                      <a:endParaRPr lang="fr-FR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fr-FR" dirty="0" smtClean="0"/>
                        <a:t>DMZ</a:t>
                      </a:r>
                      <a:endParaRPr lang="fr-FR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fr-FR" dirty="0" smtClean="0"/>
                        <a:t>SSH</a:t>
                      </a:r>
                      <a:endParaRPr lang="fr-FR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fr-FR" dirty="0" smtClean="0"/>
                        <a:t>Administration uniquement</a:t>
                      </a:r>
                      <a:endParaRPr lang="fr-FR" dirty="0"/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0625586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fr-FR" dirty="0" smtClean="0"/>
                        <a:t>DMZ</a:t>
                      </a:r>
                      <a:endParaRPr lang="fr-FR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fr-FR" dirty="0" smtClean="0"/>
                        <a:t>LAN</a:t>
                      </a:r>
                      <a:endParaRPr lang="fr-FR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fr-FR" dirty="0" smtClean="0"/>
                        <a:t>Tous services</a:t>
                      </a:r>
                      <a:endParaRPr lang="fr-FR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fr-FR" dirty="0" smtClean="0"/>
                        <a:t>Bloqué</a:t>
                      </a:r>
                      <a:endParaRPr lang="fr-FR" dirty="0"/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6403529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fr-FR" dirty="0" smtClean="0"/>
                        <a:t>VPN</a:t>
                      </a:r>
                      <a:endParaRPr lang="fr-FR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fr-FR" dirty="0" smtClean="0"/>
                        <a:t>LAN</a:t>
                      </a:r>
                      <a:endParaRPr lang="fr-FR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fr-FR" dirty="0" smtClean="0"/>
                        <a:t>Administration</a:t>
                      </a:r>
                      <a:endParaRPr lang="fr-FR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fr-FR" dirty="0" smtClean="0"/>
                        <a:t>Autorisé selon besoin</a:t>
                      </a:r>
                      <a:endParaRPr lang="fr-FR" dirty="0"/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378043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fr-FR" dirty="0" smtClean="0"/>
                        <a:t>Internet</a:t>
                      </a:r>
                      <a:endParaRPr lang="fr-FR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fr-FR" dirty="0" smtClean="0"/>
                        <a:t>LAN</a:t>
                      </a:r>
                      <a:endParaRPr lang="fr-FR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fr-FR" dirty="0" smtClean="0"/>
                        <a:t>Tout trafic entrant</a:t>
                      </a:r>
                      <a:endParaRPr lang="fr-FR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fr-FR" dirty="0" smtClean="0"/>
                        <a:t>Bloqué</a:t>
                      </a:r>
                      <a:endParaRPr lang="fr-FR" dirty="0"/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99109783"/>
                  </a:ext>
                </a:extLst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646110" y="5718406"/>
            <a:ext cx="7949249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fr-F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Principe appliqué : tout flux non nécessaire est bloqué par défaut.</a:t>
            </a:r>
          </a:p>
        </p:txBody>
      </p:sp>
    </p:spTree>
    <p:extLst>
      <p:ext uri="{BB962C8B-B14F-4D97-AF65-F5344CB8AC3E}">
        <p14:creationId xmlns:p14="http://schemas.microsoft.com/office/powerpoint/2010/main" val="111385385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286191" y="178398"/>
            <a:ext cx="9404723" cy="814379"/>
          </a:xfrm>
        </p:spPr>
        <p:txBody>
          <a:bodyPr/>
          <a:lstStyle/>
          <a:p>
            <a:r>
              <a:rPr lang="fr-FR" b="1" dirty="0" smtClean="0"/>
              <a:t>                 </a:t>
            </a:r>
            <a:r>
              <a:rPr lang="fr-FR" b="1" dirty="0" smtClean="0"/>
              <a:t>      </a:t>
            </a:r>
            <a:r>
              <a:rPr lang="fr-FR" sz="28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Pfsense_firewall</a:t>
            </a:r>
            <a:endParaRPr lang="fr-FR" sz="28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Espace réservé du contenu 3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14977" y="1384663"/>
            <a:ext cx="8947150" cy="4271554"/>
          </a:xfrm>
        </p:spPr>
      </p:pic>
    </p:spTree>
    <p:extLst>
      <p:ext uri="{BB962C8B-B14F-4D97-AF65-F5344CB8AC3E}">
        <p14:creationId xmlns:p14="http://schemas.microsoft.com/office/powerpoint/2010/main" val="410678410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646111" y="452719"/>
            <a:ext cx="9830300" cy="801316"/>
          </a:xfrm>
        </p:spPr>
        <p:txBody>
          <a:bodyPr/>
          <a:lstStyle/>
          <a:p>
            <a:r>
              <a:rPr lang="fr-FR" sz="28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                     Services </a:t>
            </a:r>
            <a:r>
              <a:rPr lang="fr-FR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déployés : serveur Web et </a:t>
            </a:r>
            <a:r>
              <a:rPr lang="fr-FR" sz="28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VPN</a:t>
            </a:r>
            <a:endParaRPr lang="fr-FR" sz="28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4" name="Espace réservé du contenu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013650571"/>
              </p:ext>
            </p:extLst>
          </p:nvPr>
        </p:nvGraphicFramePr>
        <p:xfrm>
          <a:off x="1103313" y="2052638"/>
          <a:ext cx="8947150" cy="2382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473575">
                  <a:extLst>
                    <a:ext uri="{9D8B030D-6E8A-4147-A177-3AD203B41FA5}">
                      <a16:colId xmlns:a16="http://schemas.microsoft.com/office/drawing/2014/main" val="225209518"/>
                    </a:ext>
                  </a:extLst>
                </a:gridCol>
                <a:gridCol w="4473575">
                  <a:extLst>
                    <a:ext uri="{9D8B030D-6E8A-4147-A177-3AD203B41FA5}">
                      <a16:colId xmlns:a16="http://schemas.microsoft.com/office/drawing/2014/main" val="398909027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fr-FR" dirty="0" smtClean="0"/>
                        <a:t>Serveur Web en DMZ</a:t>
                      </a:r>
                      <a:endParaRPr lang="fr-FR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fr-FR" dirty="0" smtClean="0"/>
                        <a:t>Accès VPN sécurisé</a:t>
                      </a:r>
                      <a:endParaRPr lang="fr-FR" dirty="0"/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8605513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dirty="0" smtClean="0">
                          <a:effectLst/>
                        </a:rPr>
                        <a:t>• Système : Ubuntu Server </a:t>
                      </a:r>
                    </a:p>
                    <a:p>
                      <a:r>
                        <a:rPr lang="fr-FR" dirty="0" smtClean="0">
                          <a:effectLst/>
                        </a:rPr>
                        <a:t>• Adresse : </a:t>
                      </a:r>
                      <a:r>
                        <a:rPr lang="fr-FR" dirty="0" smtClean="0">
                          <a:effectLst/>
                        </a:rPr>
                        <a:t>192.168.2.10 </a:t>
                      </a:r>
                      <a:endParaRPr lang="fr-FR" dirty="0" smtClean="0">
                        <a:effectLst/>
                      </a:endParaRPr>
                    </a:p>
                    <a:p>
                      <a:r>
                        <a:rPr lang="fr-FR" dirty="0" smtClean="0">
                          <a:effectLst/>
                        </a:rPr>
                        <a:t>• Service : Nginx </a:t>
                      </a:r>
                    </a:p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dirty="0" smtClean="0">
                          <a:effectLst/>
                        </a:rPr>
                        <a:t>• Port : HTTP 80 </a:t>
                      </a:r>
                    </a:p>
                    <a:p>
                      <a:r>
                        <a:rPr lang="fr-FR" dirty="0" smtClean="0">
                          <a:effectLst/>
                        </a:rPr>
                        <a:t>• Accessible depuis le LAN selon les règles firewall</a:t>
                      </a:r>
                      <a:endParaRPr lang="fr-FR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fr-FR" dirty="0" smtClean="0">
                          <a:effectLst/>
                        </a:rPr>
                        <a:t>• Solution : WireGuard / OpenVPN </a:t>
                      </a:r>
                    </a:p>
                    <a:p>
                      <a:r>
                        <a:rPr lang="fr-FR" dirty="0" smtClean="0">
                          <a:effectLst/>
                        </a:rPr>
                        <a:t>• Réseau VPN : 10.10.10.0/24 </a:t>
                      </a:r>
                    </a:p>
                    <a:p>
                      <a:r>
                        <a:rPr lang="fr-FR" dirty="0" smtClean="0">
                          <a:effectLst/>
                        </a:rPr>
                        <a:t>• Chiffrement des communications </a:t>
                      </a:r>
                    </a:p>
                    <a:p>
                      <a:r>
                        <a:rPr lang="fr-FR" dirty="0" smtClean="0">
                          <a:effectLst/>
                        </a:rPr>
                        <a:t>• Accès limité aux ressources autorisées </a:t>
                      </a:r>
                    </a:p>
                    <a:p>
                      <a:r>
                        <a:rPr lang="fr-FR" dirty="0" smtClean="0">
                          <a:effectLst/>
                        </a:rPr>
                        <a:t>• Aucun secret ou clé privée stocké dans GitHub</a:t>
                      </a:r>
                      <a:endParaRPr lang="fr-FR" dirty="0"/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3067061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4733242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828991" y="191461"/>
            <a:ext cx="9404723" cy="722939"/>
          </a:xfrm>
        </p:spPr>
        <p:txBody>
          <a:bodyPr/>
          <a:lstStyle/>
          <a:p>
            <a:r>
              <a:rPr lang="fr-FR" sz="28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                  Supervision </a:t>
            </a:r>
            <a:r>
              <a:rPr lang="fr-FR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avec Prometheus et Grafana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280351" y="1151580"/>
            <a:ext cx="11397843" cy="5432099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fr-FR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Prometheus collecte les métriques de </a:t>
            </a:r>
            <a:r>
              <a:rPr lang="fr-FR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disponibilité </a:t>
            </a:r>
            <a:r>
              <a:rPr lang="fr-FR" dirty="0">
                <a:latin typeface="Times New Roman" panose="02020603050405020304" pitchFamily="18" charset="0"/>
                <a:cs typeface="Times New Roman" panose="02020603050405020304" pitchFamily="18" charset="0"/>
              </a:rPr>
              <a:t>et de performance des machines</a:t>
            </a:r>
            <a:r>
              <a:rPr lang="fr-FR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endParaRPr lang="fr-FR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fr-FR" dirty="0">
                <a:latin typeface="Times New Roman" panose="02020603050405020304" pitchFamily="18" charset="0"/>
                <a:cs typeface="Times New Roman" panose="02020603050405020304" pitchFamily="18" charset="0"/>
              </a:rPr>
              <a:t>Grafana centralise ces informations dans un </a:t>
            </a:r>
            <a:r>
              <a:rPr lang="fr-FR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dashboard </a:t>
            </a:r>
            <a:r>
              <a:rPr lang="fr-FR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 supervision nommé « SenAI Network Operations Center ».</a:t>
            </a:r>
          </a:p>
          <a:p>
            <a:pPr marL="0" indent="0">
              <a:buNone/>
            </a:pPr>
            <a:endParaRPr lang="fr-FR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fr-FR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Métriques </a:t>
            </a:r>
            <a:r>
              <a:rPr lang="fr-FR" dirty="0">
                <a:latin typeface="Times New Roman" panose="02020603050405020304" pitchFamily="18" charset="0"/>
                <a:cs typeface="Times New Roman" panose="02020603050405020304" pitchFamily="18" charset="0"/>
              </a:rPr>
              <a:t>surveillées :</a:t>
            </a:r>
          </a:p>
          <a:p>
            <a:r>
              <a:rPr lang="fr-FR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fr-FR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Disponibilité</a:t>
            </a:r>
          </a:p>
          <a:p>
            <a:r>
              <a:rPr lang="fr-FR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fr-FR" dirty="0">
                <a:latin typeface="Times New Roman" panose="02020603050405020304" pitchFamily="18" charset="0"/>
                <a:cs typeface="Times New Roman" panose="02020603050405020304" pitchFamily="18" charset="0"/>
              </a:rPr>
              <a:t>CPU</a:t>
            </a:r>
          </a:p>
          <a:p>
            <a:r>
              <a:rPr lang="fr-FR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fr-FR" dirty="0">
                <a:latin typeface="Times New Roman" panose="02020603050405020304" pitchFamily="18" charset="0"/>
                <a:cs typeface="Times New Roman" panose="02020603050405020304" pitchFamily="18" charset="0"/>
              </a:rPr>
              <a:t>RAM</a:t>
            </a:r>
          </a:p>
          <a:p>
            <a:r>
              <a:rPr lang="fr-FR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fr-FR" dirty="0">
                <a:latin typeface="Times New Roman" panose="02020603050405020304" pitchFamily="18" charset="0"/>
                <a:cs typeface="Times New Roman" panose="02020603050405020304" pitchFamily="18" charset="0"/>
              </a:rPr>
              <a:t>Espace disque</a:t>
            </a:r>
          </a:p>
          <a:p>
            <a:r>
              <a:rPr lang="fr-FR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fr-FR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Trafic réseau</a:t>
            </a:r>
          </a:p>
          <a:p>
            <a:r>
              <a:rPr lang="fr-FR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fr-FR" dirty="0">
                <a:latin typeface="Times New Roman" panose="02020603050405020304" pitchFamily="18" charset="0"/>
                <a:cs typeface="Times New Roman" panose="02020603050405020304" pitchFamily="18" charset="0"/>
              </a:rPr>
              <a:t>Latence</a:t>
            </a:r>
          </a:p>
          <a:p>
            <a:r>
              <a:rPr lang="fr-FR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fr-FR" dirty="0">
                <a:latin typeface="Times New Roman" panose="02020603050405020304" pitchFamily="18" charset="0"/>
                <a:cs typeface="Times New Roman" panose="02020603050405020304" pitchFamily="18" charset="0"/>
              </a:rPr>
              <a:t>Pertes de paquets</a:t>
            </a:r>
          </a:p>
          <a:p>
            <a:r>
              <a:rPr lang="fr-FR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fr-FR" dirty="0">
                <a:latin typeface="Times New Roman" panose="02020603050405020304" pitchFamily="18" charset="0"/>
                <a:cs typeface="Times New Roman" panose="02020603050405020304" pitchFamily="18" charset="0"/>
              </a:rPr>
              <a:t>État du serveur Web</a:t>
            </a:r>
          </a:p>
        </p:txBody>
      </p:sp>
      <p:pic>
        <p:nvPicPr>
          <p:cNvPr id="4" name="Image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14035" y="2638696"/>
            <a:ext cx="7693771" cy="39449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142534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646111" y="178398"/>
            <a:ext cx="9404723" cy="670688"/>
          </a:xfrm>
        </p:spPr>
        <p:txBody>
          <a:bodyPr/>
          <a:lstStyle/>
          <a:p>
            <a:r>
              <a:rPr lang="fr-FR" sz="3200" dirty="0" smtClean="0"/>
              <a:t>  </a:t>
            </a:r>
            <a:r>
              <a:rPr lang="fr-FR" sz="3200" dirty="0" smtClean="0"/>
              <a:t>         </a:t>
            </a:r>
            <a:r>
              <a:rPr lang="fr-FR" sz="28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Automatisation </a:t>
            </a:r>
            <a:r>
              <a:rPr lang="fr-FR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des contrôles avec Python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502420" y="1007890"/>
            <a:ext cx="8946541" cy="5562727"/>
          </a:xfrm>
        </p:spPr>
        <p:txBody>
          <a:bodyPr>
            <a:noAutofit/>
          </a:bodyPr>
          <a:lstStyle/>
          <a:p>
            <a:r>
              <a:rPr lang="fr-FR" dirty="0">
                <a:latin typeface="Times New Roman" panose="02020603050405020304" pitchFamily="18" charset="0"/>
                <a:cs typeface="Times New Roman" panose="02020603050405020304" pitchFamily="18" charset="0"/>
              </a:rPr>
              <a:t>Un script Python automatise les contrôles répétitifs</a:t>
            </a:r>
          </a:p>
          <a:p>
            <a:r>
              <a:rPr lang="fr-FR" dirty="0">
                <a:latin typeface="Times New Roman" panose="02020603050405020304" pitchFamily="18" charset="0"/>
                <a:cs typeface="Times New Roman" panose="02020603050405020304" pitchFamily="18" charset="0"/>
              </a:rPr>
              <a:t>sur l’infrastructure réseau.</a:t>
            </a:r>
          </a:p>
          <a:p>
            <a:endParaRPr lang="fr-FR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fr-FR" dirty="0">
                <a:latin typeface="Times New Roman" panose="02020603050405020304" pitchFamily="18" charset="0"/>
                <a:cs typeface="Times New Roman" panose="02020603050405020304" pitchFamily="18" charset="0"/>
              </a:rPr>
              <a:t>Fonctions réalisées :</a:t>
            </a:r>
          </a:p>
          <a:p>
            <a:r>
              <a:rPr lang="fr-FR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fr-FR" dirty="0">
                <a:latin typeface="Times New Roman" panose="02020603050405020304" pitchFamily="18" charset="0"/>
                <a:cs typeface="Times New Roman" panose="02020603050405020304" pitchFamily="18" charset="0"/>
              </a:rPr>
              <a:t>Vérification de disponibilité par ping</a:t>
            </a:r>
          </a:p>
          <a:p>
            <a:r>
              <a:rPr lang="fr-FR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fr-FR" dirty="0">
                <a:latin typeface="Times New Roman" panose="02020603050405020304" pitchFamily="18" charset="0"/>
                <a:cs typeface="Times New Roman" panose="02020603050405020304" pitchFamily="18" charset="0"/>
              </a:rPr>
              <a:t>Mesure de la latence</a:t>
            </a:r>
          </a:p>
          <a:p>
            <a:r>
              <a:rPr lang="fr-FR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fr-FR" dirty="0">
                <a:latin typeface="Times New Roman" panose="02020603050405020304" pitchFamily="18" charset="0"/>
                <a:cs typeface="Times New Roman" panose="02020603050405020304" pitchFamily="18" charset="0"/>
              </a:rPr>
              <a:t>Vérification de ports ou de services</a:t>
            </a:r>
          </a:p>
          <a:p>
            <a:r>
              <a:rPr lang="fr-FR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fr-FR" dirty="0">
                <a:latin typeface="Times New Roman" panose="02020603050405020304" pitchFamily="18" charset="0"/>
                <a:cs typeface="Times New Roman" panose="02020603050405020304" pitchFamily="18" charset="0"/>
              </a:rPr>
              <a:t>Enregistrement des résultats dans un fichier CSV</a:t>
            </a:r>
          </a:p>
          <a:p>
            <a:r>
              <a:rPr lang="fr-FR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fr-FR" dirty="0">
                <a:latin typeface="Times New Roman" panose="02020603050405020304" pitchFamily="18" charset="0"/>
                <a:cs typeface="Times New Roman" panose="02020603050405020304" pitchFamily="18" charset="0"/>
              </a:rPr>
              <a:t>Génération d’un statut UP / DOWN</a:t>
            </a:r>
          </a:p>
          <a:p>
            <a:r>
              <a:rPr lang="fr-FR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fr-FR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Préparation des métriques pour l’analyse </a:t>
            </a:r>
            <a:r>
              <a:rPr lang="fr-FR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d’anomalies</a:t>
            </a:r>
          </a:p>
          <a:p>
            <a:pPr marL="0" indent="0">
              <a:buNone/>
            </a:pPr>
            <a:r>
              <a:rPr lang="fr-FR" dirty="0">
                <a:latin typeface="Times New Roman" panose="02020603050405020304" pitchFamily="18" charset="0"/>
                <a:cs typeface="Times New Roman" panose="02020603050405020304" pitchFamily="18" charset="0"/>
              </a:rPr>
              <a:t>Petit extrait de code </a:t>
            </a:r>
            <a:r>
              <a:rPr lang="fr-FR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  <a:p>
            <a:pPr marL="0" indent="0">
              <a:buNone/>
            </a:pP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status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= "UP" if result.returncode == 0 else "DOWN"</a:t>
            </a:r>
          </a:p>
          <a:p>
            <a:pPr marL="0" indent="0">
              <a:buNone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print(f"{host} : {status}")</a:t>
            </a:r>
            <a:endParaRPr lang="fr-FR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4202019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037997" y="100021"/>
            <a:ext cx="9404723" cy="814379"/>
          </a:xfrm>
        </p:spPr>
        <p:txBody>
          <a:bodyPr/>
          <a:lstStyle/>
          <a:p>
            <a:r>
              <a:rPr lang="fr-FR" sz="3200" dirty="0" smtClean="0"/>
              <a:t>    </a:t>
            </a:r>
            <a:r>
              <a:rPr lang="fr-FR" sz="3200" dirty="0" smtClean="0"/>
              <a:t>        </a:t>
            </a:r>
            <a:r>
              <a:rPr lang="fr-FR" sz="28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Détection </a:t>
            </a:r>
            <a:r>
              <a:rPr lang="fr-FR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d’anomalies avec scikit-learn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228100" y="1005840"/>
            <a:ext cx="11554597" cy="5236156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fr-FR" dirty="0">
                <a:latin typeface="Times New Roman" panose="02020603050405020304" pitchFamily="18" charset="0"/>
                <a:cs typeface="Times New Roman" panose="02020603050405020304" pitchFamily="18" charset="0"/>
              </a:rPr>
              <a:t>Les métriques collectées sont analysées pour </a:t>
            </a:r>
            <a:r>
              <a:rPr lang="fr-FR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identifier   </a:t>
            </a:r>
            <a:endParaRPr lang="fr-FR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fr-FR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des comportements inhabituels.</a:t>
            </a:r>
          </a:p>
          <a:p>
            <a:pPr marL="0" indent="0">
              <a:buNone/>
            </a:pPr>
            <a:endParaRPr lang="fr-FR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fr-FR" dirty="0">
                <a:latin typeface="Times New Roman" panose="02020603050405020304" pitchFamily="18" charset="0"/>
                <a:cs typeface="Times New Roman" panose="02020603050405020304" pitchFamily="18" charset="0"/>
              </a:rPr>
              <a:t>Variables utilisées :</a:t>
            </a:r>
          </a:p>
          <a:p>
            <a:r>
              <a:rPr lang="fr-FR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fr-FR" dirty="0">
                <a:latin typeface="Times New Roman" panose="02020603050405020304" pitchFamily="18" charset="0"/>
                <a:cs typeface="Times New Roman" panose="02020603050405020304" pitchFamily="18" charset="0"/>
              </a:rPr>
              <a:t>CPU</a:t>
            </a:r>
          </a:p>
          <a:p>
            <a:r>
              <a:rPr lang="fr-FR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RAM</a:t>
            </a:r>
            <a:endParaRPr lang="fr-FR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fr-FR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fr-FR" dirty="0">
                <a:latin typeface="Times New Roman" panose="02020603050405020304" pitchFamily="18" charset="0"/>
                <a:cs typeface="Times New Roman" panose="02020603050405020304" pitchFamily="18" charset="0"/>
              </a:rPr>
              <a:t>Latence réseau</a:t>
            </a:r>
          </a:p>
          <a:p>
            <a:r>
              <a:rPr lang="fr-FR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fr-FR" dirty="0">
                <a:latin typeface="Times New Roman" panose="02020603050405020304" pitchFamily="18" charset="0"/>
                <a:cs typeface="Times New Roman" panose="02020603050405020304" pitchFamily="18" charset="0"/>
              </a:rPr>
              <a:t>Perte de paquets</a:t>
            </a:r>
          </a:p>
          <a:p>
            <a:r>
              <a:rPr lang="fr-FR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fr-FR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Disponibilité des services</a:t>
            </a:r>
          </a:p>
          <a:p>
            <a:endParaRPr lang="fr-FR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fr-FR" dirty="0">
                <a:latin typeface="Times New Roman" panose="02020603050405020304" pitchFamily="18" charset="0"/>
                <a:cs typeface="Times New Roman" panose="02020603050405020304" pitchFamily="18" charset="0"/>
              </a:rPr>
              <a:t>Méthode :</a:t>
            </a:r>
          </a:p>
          <a:p>
            <a:r>
              <a:rPr lang="fr-FR" dirty="0">
                <a:latin typeface="Times New Roman" panose="02020603050405020304" pitchFamily="18" charset="0"/>
                <a:cs typeface="Times New Roman" panose="02020603050405020304" pitchFamily="18" charset="0"/>
              </a:rPr>
              <a:t>Isolation Forest avec scikit-learn.</a:t>
            </a:r>
          </a:p>
        </p:txBody>
      </p:sp>
    </p:spTree>
    <p:extLst>
      <p:ext uri="{BB962C8B-B14F-4D97-AF65-F5344CB8AC3E}">
        <p14:creationId xmlns:p14="http://schemas.microsoft.com/office/powerpoint/2010/main" val="174658769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874526" y="113084"/>
            <a:ext cx="9404723" cy="1010322"/>
          </a:xfrm>
        </p:spPr>
        <p:txBody>
          <a:bodyPr/>
          <a:lstStyle/>
          <a:p>
            <a:r>
              <a:rPr lang="fr-FR" dirty="0" smtClean="0"/>
              <a:t>                     </a:t>
            </a:r>
            <a:r>
              <a:rPr lang="fr-FR" dirty="0" smtClean="0"/>
              <a:t>    </a:t>
            </a:r>
            <a:r>
              <a:rPr lang="fr-FR" sz="28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Suite</a:t>
            </a:r>
            <a:r>
              <a:rPr lang="fr-FR" sz="28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endParaRPr lang="fr-FR" sz="28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4" name="Espace réservé du contenu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148533974"/>
              </p:ext>
            </p:extLst>
          </p:nvPr>
        </p:nvGraphicFramePr>
        <p:xfrm>
          <a:off x="1194753" y="1321118"/>
          <a:ext cx="8947150" cy="2931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9430">
                  <a:extLst>
                    <a:ext uri="{9D8B030D-6E8A-4147-A177-3AD203B41FA5}">
                      <a16:colId xmlns:a16="http://schemas.microsoft.com/office/drawing/2014/main" val="275488781"/>
                    </a:ext>
                  </a:extLst>
                </a:gridCol>
                <a:gridCol w="1789430">
                  <a:extLst>
                    <a:ext uri="{9D8B030D-6E8A-4147-A177-3AD203B41FA5}">
                      <a16:colId xmlns:a16="http://schemas.microsoft.com/office/drawing/2014/main" val="2284248243"/>
                    </a:ext>
                  </a:extLst>
                </a:gridCol>
                <a:gridCol w="1789430">
                  <a:extLst>
                    <a:ext uri="{9D8B030D-6E8A-4147-A177-3AD203B41FA5}">
                      <a16:colId xmlns:a16="http://schemas.microsoft.com/office/drawing/2014/main" val="2905640913"/>
                    </a:ext>
                  </a:extLst>
                </a:gridCol>
                <a:gridCol w="1789430">
                  <a:extLst>
                    <a:ext uri="{9D8B030D-6E8A-4147-A177-3AD203B41FA5}">
                      <a16:colId xmlns:a16="http://schemas.microsoft.com/office/drawing/2014/main" val="1464303190"/>
                    </a:ext>
                  </a:extLst>
                </a:gridCol>
                <a:gridCol w="1789430">
                  <a:extLst>
                    <a:ext uri="{9D8B030D-6E8A-4147-A177-3AD203B41FA5}">
                      <a16:colId xmlns:a16="http://schemas.microsoft.com/office/drawing/2014/main" val="292506813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fr-FR" dirty="0" smtClean="0"/>
                        <a:t>Situation</a:t>
                      </a:r>
                      <a:endParaRPr lang="fr-FR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fr-FR" dirty="0" smtClean="0"/>
                        <a:t>CPU</a:t>
                      </a:r>
                      <a:endParaRPr lang="fr-FR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fr-FR" dirty="0" smtClean="0"/>
                        <a:t>Latence</a:t>
                      </a:r>
                      <a:endParaRPr lang="fr-FR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fr-FR" dirty="0" smtClean="0"/>
                        <a:t>Perte paquets</a:t>
                      </a:r>
                      <a:endParaRPr lang="fr-FR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fr-FR" dirty="0" smtClean="0"/>
                        <a:t>Statut</a:t>
                      </a:r>
                      <a:endParaRPr lang="fr-FR" dirty="0"/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605969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fr-FR" dirty="0" smtClean="0"/>
                        <a:t>Fonctionnement normal</a:t>
                      </a:r>
                      <a:endParaRPr lang="fr-FR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fr-FR" dirty="0" smtClean="0"/>
                        <a:t>35%</a:t>
                      </a:r>
                      <a:endParaRPr lang="fr-FR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fr-FR" dirty="0" smtClean="0"/>
                        <a:t>12 ms</a:t>
                      </a:r>
                      <a:endParaRPr lang="fr-FR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fr-FR" dirty="0" smtClean="0"/>
                        <a:t>0%</a:t>
                      </a:r>
                      <a:endParaRPr lang="fr-FR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fr-FR" dirty="0" smtClean="0"/>
                        <a:t>Normal</a:t>
                      </a:r>
                      <a:endParaRPr lang="fr-FR" dirty="0"/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154513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fr-FR" dirty="0" smtClean="0"/>
                        <a:t>Charge élevée</a:t>
                      </a:r>
                      <a:endParaRPr lang="fr-FR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fr-FR" dirty="0" smtClean="0"/>
                        <a:t>95%</a:t>
                      </a:r>
                      <a:endParaRPr lang="fr-FR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fr-FR" dirty="0" smtClean="0"/>
                        <a:t>85 ms</a:t>
                      </a:r>
                      <a:endParaRPr lang="fr-FR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fr-FR" dirty="0" smtClean="0"/>
                        <a:t>2%</a:t>
                      </a:r>
                      <a:endParaRPr lang="fr-FR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fr-FR" dirty="0" smtClean="0"/>
                        <a:t>Anomalie</a:t>
                      </a:r>
                      <a:endParaRPr lang="fr-FR" dirty="0"/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052890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fr-FR" dirty="0" smtClean="0"/>
                        <a:t>Incident réseau</a:t>
                      </a:r>
                      <a:endParaRPr lang="fr-FR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fr-FR" dirty="0" smtClean="0"/>
                        <a:t>40%</a:t>
                      </a:r>
                      <a:endParaRPr lang="fr-FR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fr-FR" dirty="0" smtClean="0"/>
                        <a:t>600 ms</a:t>
                      </a:r>
                      <a:endParaRPr lang="fr-FR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fr-FR" dirty="0" smtClean="0"/>
                        <a:t>45%</a:t>
                      </a:r>
                      <a:endParaRPr lang="fr-FR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fr-FR" dirty="0" smtClean="0"/>
                        <a:t>Anomalie</a:t>
                      </a:r>
                      <a:endParaRPr lang="fr-FR" dirty="0"/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6413655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fr-FR" dirty="0" smtClean="0"/>
                        <a:t>Serveur indisponible</a:t>
                      </a:r>
                      <a:endParaRPr lang="fr-FR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fr-FR" dirty="0" smtClean="0"/>
                        <a:t>N/A</a:t>
                      </a:r>
                      <a:endParaRPr lang="fr-FR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fr-FR" dirty="0" smtClean="0"/>
                        <a:t>N/A</a:t>
                      </a:r>
                      <a:endParaRPr lang="fr-FR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fr-FR" dirty="0" smtClean="0"/>
                        <a:t>100%</a:t>
                      </a:r>
                      <a:endParaRPr lang="fr-FR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fr-FR" dirty="0" smtClean="0"/>
                        <a:t>Anomalie</a:t>
                      </a:r>
                      <a:endParaRPr lang="fr-FR" dirty="0"/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0343321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8683107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894306" y="219763"/>
            <a:ext cx="9404723" cy="553122"/>
          </a:xfrm>
        </p:spPr>
        <p:txBody>
          <a:bodyPr/>
          <a:lstStyle/>
          <a:p>
            <a:r>
              <a:rPr lang="fr-FR" sz="28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              Incident </a:t>
            </a:r>
            <a:r>
              <a:rPr lang="fr-FR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simulé : serveur Web indisponible</a:t>
            </a:r>
          </a:p>
        </p:txBody>
      </p:sp>
      <p:graphicFrame>
        <p:nvGraphicFramePr>
          <p:cNvPr id="4" name="Espace réservé du contenu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125899372"/>
              </p:ext>
            </p:extLst>
          </p:nvPr>
        </p:nvGraphicFramePr>
        <p:xfrm>
          <a:off x="339318" y="1175657"/>
          <a:ext cx="11234372" cy="323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17186">
                  <a:extLst>
                    <a:ext uri="{9D8B030D-6E8A-4147-A177-3AD203B41FA5}">
                      <a16:colId xmlns:a16="http://schemas.microsoft.com/office/drawing/2014/main" val="744335862"/>
                    </a:ext>
                  </a:extLst>
                </a:gridCol>
                <a:gridCol w="5617186">
                  <a:extLst>
                    <a:ext uri="{9D8B030D-6E8A-4147-A177-3AD203B41FA5}">
                      <a16:colId xmlns:a16="http://schemas.microsoft.com/office/drawing/2014/main" val="393532167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fr-FR" dirty="0" smtClean="0"/>
                        <a:t>Étape</a:t>
                      </a:r>
                      <a:endParaRPr lang="fr-FR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fr-FR" dirty="0" smtClean="0"/>
                        <a:t>Observation</a:t>
                      </a:r>
                      <a:endParaRPr lang="fr-FR" dirty="0"/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766948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fr-FR" dirty="0" smtClean="0"/>
                        <a:t>Incident</a:t>
                      </a:r>
                      <a:endParaRPr lang="fr-FR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fr-FR" dirty="0" smtClean="0"/>
                        <a:t>Arrêt du service Nginx sur le serveur Web</a:t>
                      </a:r>
                      <a:endParaRPr lang="fr-FR" dirty="0"/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022310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fr-FR" dirty="0" smtClean="0"/>
                        <a:t>Symptôme</a:t>
                      </a:r>
                      <a:endParaRPr lang="fr-FR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fr-FR" dirty="0" smtClean="0"/>
                        <a:t>Le site n’est plus accessible depuis le LAN</a:t>
                      </a:r>
                      <a:endParaRPr lang="fr-FR" dirty="0"/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4757685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fr-FR" dirty="0" smtClean="0"/>
                        <a:t>Détection</a:t>
                      </a:r>
                      <a:endParaRPr lang="fr-FR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fr-FR" dirty="0" smtClean="0"/>
                        <a:t>Dashboard ou alerte indique un service indisponible</a:t>
                      </a:r>
                      <a:endParaRPr lang="fr-FR" dirty="0"/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006285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fr-FR" dirty="0" smtClean="0"/>
                        <a:t>Vérification</a:t>
                      </a:r>
                      <a:endParaRPr lang="fr-FR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fr-FR" dirty="0" smtClean="0"/>
                        <a:t>Ping fonctionnel, mais HTTP ne répond pas</a:t>
                      </a:r>
                      <a:endParaRPr lang="fr-FR" dirty="0"/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698121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fr-FR" dirty="0" smtClean="0"/>
                        <a:t>Diagnostic</a:t>
                      </a:r>
                      <a:endParaRPr lang="fr-FR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fr-FR" dirty="0" smtClean="0"/>
                        <a:t>Le serveur est joignable, mais Nginx est arrêté</a:t>
                      </a:r>
                      <a:endParaRPr lang="fr-FR" dirty="0"/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213812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fr-FR" dirty="0" smtClean="0"/>
                        <a:t>Correction</a:t>
                      </a:r>
                      <a:endParaRPr lang="fr-FR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fr-FR" dirty="0" smtClean="0"/>
                        <a:t>Démarrage de Nginx</a:t>
                      </a:r>
                      <a:endParaRPr lang="fr-FR" dirty="0"/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2813508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fr-FR" dirty="0" smtClean="0"/>
                        <a:t>Validation</a:t>
                      </a:r>
                      <a:endParaRPr lang="fr-FR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fr-FR" dirty="0" smtClean="0"/>
                        <a:t>Le site redevient accessible et l’alerte disparaît</a:t>
                      </a:r>
                      <a:endParaRPr lang="fr-FR" dirty="0"/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88708077"/>
                  </a:ext>
                </a:extLst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339318" y="4788264"/>
            <a:ext cx="6096000" cy="1323439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fr-F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sudo systemctl stop nginx</a:t>
            </a:r>
          </a:p>
          <a:p>
            <a:r>
              <a:rPr lang="fr-F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sudo systemctl status nginx</a:t>
            </a:r>
          </a:p>
          <a:p>
            <a:r>
              <a:rPr lang="fr-F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sudo systemctl start nginx</a:t>
            </a:r>
          </a:p>
          <a:p>
            <a:r>
              <a:rPr lang="fr-F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curl http://</a:t>
            </a:r>
            <a:r>
              <a:rPr lang="fr-FR" sz="2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192.168.2.10</a:t>
            </a:r>
            <a:endParaRPr lang="fr-FR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1017371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646111" y="165336"/>
            <a:ext cx="9404723" cy="736002"/>
          </a:xfrm>
        </p:spPr>
        <p:txBody>
          <a:bodyPr/>
          <a:lstStyle/>
          <a:p>
            <a:r>
              <a:rPr lang="fr-FR" sz="3200" dirty="0" smtClean="0"/>
              <a:t>               </a:t>
            </a:r>
            <a:r>
              <a:rPr lang="fr-FR" sz="3200" dirty="0" smtClean="0"/>
              <a:t>       </a:t>
            </a:r>
            <a:r>
              <a:rPr lang="fr-FR" sz="28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Résultats </a:t>
            </a:r>
            <a:r>
              <a:rPr lang="fr-FR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obtenus et livrables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646111" y="1110343"/>
            <a:ext cx="8946541" cy="5603966"/>
          </a:xfrm>
        </p:spPr>
        <p:txBody>
          <a:bodyPr>
            <a:noAutofit/>
          </a:bodyPr>
          <a:lstStyle/>
          <a:p>
            <a:r>
              <a:rPr lang="fr-FR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Architecture </a:t>
            </a:r>
            <a:r>
              <a:rPr lang="fr-FR" dirty="0">
                <a:latin typeface="Times New Roman" panose="02020603050405020304" pitchFamily="18" charset="0"/>
                <a:cs typeface="Times New Roman" panose="02020603050405020304" pitchFamily="18" charset="0"/>
              </a:rPr>
              <a:t>réseau LAN / DMZ documentée</a:t>
            </a:r>
          </a:p>
          <a:p>
            <a:r>
              <a:rPr lang="fr-FR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fr-FR" dirty="0">
                <a:latin typeface="Times New Roman" panose="02020603050405020304" pitchFamily="18" charset="0"/>
                <a:cs typeface="Times New Roman" panose="02020603050405020304" pitchFamily="18" charset="0"/>
              </a:rPr>
              <a:t>Plan d’adressage IP défini</a:t>
            </a:r>
          </a:p>
          <a:p>
            <a:r>
              <a:rPr lang="fr-FR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fr-FR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pfsense </a:t>
            </a:r>
            <a:r>
              <a:rPr lang="fr-FR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configuré comme routeur et pare-feu</a:t>
            </a:r>
          </a:p>
          <a:p>
            <a:r>
              <a:rPr lang="fr-FR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fr-FR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Serveur Web déployé dans la DMZ</a:t>
            </a:r>
          </a:p>
          <a:p>
            <a:r>
              <a:rPr lang="fr-FR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fr-FR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Matrice des flux et règles firewall documentées</a:t>
            </a:r>
          </a:p>
          <a:p>
            <a:r>
              <a:rPr lang="fr-FR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fr-FR" dirty="0">
                <a:latin typeface="Times New Roman" panose="02020603050405020304" pitchFamily="18" charset="0"/>
                <a:cs typeface="Times New Roman" panose="02020603050405020304" pitchFamily="18" charset="0"/>
              </a:rPr>
              <a:t>VPN de test configuré</a:t>
            </a:r>
          </a:p>
          <a:p>
            <a:r>
              <a:rPr lang="fr-FR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fr-FR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Dashboard Prometheus / Grafana créé</a:t>
            </a:r>
          </a:p>
          <a:p>
            <a:r>
              <a:rPr lang="fr-FR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fr-FR" dirty="0">
                <a:latin typeface="Times New Roman" panose="02020603050405020304" pitchFamily="18" charset="0"/>
                <a:cs typeface="Times New Roman" panose="02020603050405020304" pitchFamily="18" charset="0"/>
              </a:rPr>
              <a:t>Alertes de disponibilité et de performance configurées</a:t>
            </a:r>
          </a:p>
          <a:p>
            <a:r>
              <a:rPr lang="fr-FR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fr-FR" dirty="0">
                <a:latin typeface="Times New Roman" panose="02020603050405020304" pitchFamily="18" charset="0"/>
                <a:cs typeface="Times New Roman" panose="02020603050405020304" pitchFamily="18" charset="0"/>
              </a:rPr>
              <a:t>Scripts Python d’automatisation développés</a:t>
            </a:r>
          </a:p>
          <a:p>
            <a:r>
              <a:rPr lang="fr-FR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fr-FR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Prototype de détection d’anomalies réalisé</a:t>
            </a:r>
          </a:p>
          <a:p>
            <a:r>
              <a:rPr lang="fr-FR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fr-FR" dirty="0">
                <a:latin typeface="Times New Roman" panose="02020603050405020304" pitchFamily="18" charset="0"/>
                <a:cs typeface="Times New Roman" panose="02020603050405020304" pitchFamily="18" charset="0"/>
              </a:rPr>
              <a:t>Tests et incidents documentés</a:t>
            </a:r>
          </a:p>
          <a:p>
            <a:r>
              <a:rPr lang="fr-FR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fr-FR" dirty="0">
                <a:latin typeface="Times New Roman" panose="02020603050405020304" pitchFamily="18" charset="0"/>
                <a:cs typeface="Times New Roman" panose="02020603050405020304" pitchFamily="18" charset="0"/>
              </a:rPr>
              <a:t>Dépôt GitHub propre et structuré</a:t>
            </a:r>
          </a:p>
          <a:p>
            <a:r>
              <a:rPr lang="fr-FR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fr-FR" dirty="0">
                <a:latin typeface="Times New Roman" panose="02020603050405020304" pitchFamily="18" charset="0"/>
                <a:cs typeface="Times New Roman" panose="02020603050405020304" pitchFamily="18" charset="0"/>
              </a:rPr>
              <a:t>Rapport technique final rédigé</a:t>
            </a:r>
          </a:p>
        </p:txBody>
      </p:sp>
    </p:spTree>
    <p:extLst>
      <p:ext uri="{BB962C8B-B14F-4D97-AF65-F5344CB8AC3E}">
        <p14:creationId xmlns:p14="http://schemas.microsoft.com/office/powerpoint/2010/main" val="123340480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541609" y="1"/>
            <a:ext cx="9404723" cy="731520"/>
          </a:xfrm>
        </p:spPr>
        <p:txBody>
          <a:bodyPr/>
          <a:lstStyle/>
          <a:p>
            <a:r>
              <a:rPr lang="fr-FR" dirty="0" smtClean="0"/>
              <a:t>          </a:t>
            </a:r>
            <a:r>
              <a:rPr lang="fr-FR" dirty="0" smtClean="0"/>
              <a:t>        </a:t>
            </a:r>
            <a:r>
              <a:rPr lang="fr-FR" sz="28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Conclusion </a:t>
            </a:r>
            <a:r>
              <a:rPr lang="fr-FR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et perspectives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437107" y="994827"/>
            <a:ext cx="11254150" cy="5628042"/>
          </a:xfrm>
        </p:spPr>
        <p:txBody>
          <a:bodyPr>
            <a:normAutofit fontScale="70000" lnSpcReduction="20000"/>
          </a:bodyPr>
          <a:lstStyle/>
          <a:p>
            <a:pPr>
              <a:buFont typeface="Wingdings" panose="05000000000000000000" pitchFamily="2" charset="2"/>
              <a:buChar char="v"/>
            </a:pPr>
            <a:r>
              <a:rPr lang="fr-FR" sz="25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Conclusion</a:t>
            </a:r>
            <a:endParaRPr lang="fr-FR" sz="2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fr-FR" sz="25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Le </a:t>
            </a:r>
            <a:r>
              <a:rPr lang="fr-FR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projet a permis de concevoir un laboratoire </a:t>
            </a:r>
            <a:r>
              <a:rPr lang="fr-FR" sz="25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virtuel </a:t>
            </a:r>
            <a:r>
              <a:rPr lang="fr-FR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représentatif d’une infrastructure réseau </a:t>
            </a:r>
            <a:r>
              <a:rPr lang="fr-FR" sz="25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d’entreprise.</a:t>
            </a:r>
            <a:endParaRPr lang="fr-FR" sz="2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fr-FR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Il </a:t>
            </a:r>
            <a:r>
              <a:rPr lang="fr-FR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combine :</a:t>
            </a:r>
          </a:p>
          <a:p>
            <a:pPr marL="0" indent="0">
              <a:buNone/>
            </a:pPr>
            <a:r>
              <a:rPr lang="fr-FR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      • </a:t>
            </a:r>
            <a:r>
              <a:rPr lang="fr-FR" dirty="0">
                <a:latin typeface="Times New Roman" panose="02020603050405020304" pitchFamily="18" charset="0"/>
                <a:cs typeface="Times New Roman" panose="02020603050405020304" pitchFamily="18" charset="0"/>
              </a:rPr>
              <a:t>Virtualisation</a:t>
            </a:r>
          </a:p>
          <a:p>
            <a:pPr marL="0" indent="0">
              <a:buNone/>
            </a:pPr>
            <a:r>
              <a:rPr lang="fr-FR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      • </a:t>
            </a:r>
            <a:r>
              <a:rPr lang="fr-FR" dirty="0">
                <a:latin typeface="Times New Roman" panose="02020603050405020304" pitchFamily="18" charset="0"/>
                <a:cs typeface="Times New Roman" panose="02020603050405020304" pitchFamily="18" charset="0"/>
              </a:rPr>
              <a:t>Routage et segmentation</a:t>
            </a:r>
          </a:p>
          <a:p>
            <a:pPr marL="0" indent="0">
              <a:buNone/>
            </a:pPr>
            <a:r>
              <a:rPr lang="fr-FR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      • </a:t>
            </a:r>
            <a:r>
              <a:rPr lang="fr-FR" dirty="0">
                <a:latin typeface="Times New Roman" panose="02020603050405020304" pitchFamily="18" charset="0"/>
                <a:cs typeface="Times New Roman" panose="02020603050405020304" pitchFamily="18" charset="0"/>
              </a:rPr>
              <a:t>Sécurité réseau et </a:t>
            </a:r>
            <a:r>
              <a:rPr lang="fr-FR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firewall</a:t>
            </a:r>
          </a:p>
          <a:p>
            <a:pPr marL="0" indent="0">
              <a:buNone/>
            </a:pPr>
            <a:r>
              <a:rPr lang="fr-FR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      • VPN</a:t>
            </a:r>
          </a:p>
          <a:p>
            <a:pPr marL="0" indent="0">
              <a:buNone/>
            </a:pPr>
            <a:r>
              <a:rPr lang="fr-FR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      • </a:t>
            </a:r>
            <a:r>
              <a:rPr lang="fr-FR" dirty="0">
                <a:latin typeface="Times New Roman" panose="02020603050405020304" pitchFamily="18" charset="0"/>
                <a:cs typeface="Times New Roman" panose="02020603050405020304" pitchFamily="18" charset="0"/>
              </a:rPr>
              <a:t>Supervision et </a:t>
            </a:r>
            <a:r>
              <a:rPr lang="fr-FR" dirty="0">
                <a:latin typeface="Times New Roman" panose="02020603050405020304" pitchFamily="18" charset="0"/>
                <a:cs typeface="Times New Roman" panose="02020603050405020304" pitchFamily="18" charset="0"/>
              </a:rPr>
              <a:t>alerting</a:t>
            </a:r>
            <a:endParaRPr lang="fr-FR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fr-FR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      • </a:t>
            </a:r>
            <a:r>
              <a:rPr lang="fr-FR" dirty="0">
                <a:latin typeface="Times New Roman" panose="02020603050405020304" pitchFamily="18" charset="0"/>
                <a:cs typeface="Times New Roman" panose="02020603050405020304" pitchFamily="18" charset="0"/>
              </a:rPr>
              <a:t>Automatisation avec Python</a:t>
            </a:r>
          </a:p>
          <a:p>
            <a:pPr marL="0" indent="0">
              <a:buNone/>
            </a:pPr>
            <a:r>
              <a:rPr lang="fr-FR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      • </a:t>
            </a:r>
            <a:r>
              <a:rPr lang="fr-FR" dirty="0">
                <a:latin typeface="Times New Roman" panose="02020603050405020304" pitchFamily="18" charset="0"/>
                <a:cs typeface="Times New Roman" panose="02020603050405020304" pitchFamily="18" charset="0"/>
              </a:rPr>
              <a:t>Détection d’anomalies</a:t>
            </a:r>
          </a:p>
          <a:p>
            <a:pPr marL="0" indent="0">
              <a:buNone/>
            </a:pPr>
            <a:r>
              <a:rPr lang="fr-FR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      • </a:t>
            </a:r>
            <a:r>
              <a:rPr lang="fr-FR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Diagnostic et résolution </a:t>
            </a:r>
            <a:r>
              <a:rPr lang="fr-FR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d’incidents</a:t>
            </a:r>
          </a:p>
          <a:p>
            <a:pPr>
              <a:buFont typeface="Wingdings" panose="05000000000000000000" pitchFamily="2" charset="2"/>
              <a:buChar char="v"/>
            </a:pPr>
            <a:r>
              <a:rPr lang="fr-FR" sz="2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Perspectives </a:t>
            </a:r>
            <a:r>
              <a:rPr lang="fr-FR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  <a:p>
            <a:pPr marL="0" indent="0">
              <a:buNone/>
            </a:pPr>
            <a:r>
              <a:rPr lang="fr-FR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       • </a:t>
            </a:r>
            <a:r>
              <a:rPr lang="fr-FR" dirty="0">
                <a:latin typeface="Times New Roman" panose="02020603050405020304" pitchFamily="18" charset="0"/>
                <a:cs typeface="Times New Roman" panose="02020603050405020304" pitchFamily="18" charset="0"/>
              </a:rPr>
              <a:t>Ajouter un IDS/IPS</a:t>
            </a:r>
          </a:p>
          <a:p>
            <a:pPr marL="0" indent="0">
              <a:buNone/>
            </a:pPr>
            <a:r>
              <a:rPr lang="fr-FR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       • </a:t>
            </a:r>
            <a:r>
              <a:rPr lang="fr-FR" dirty="0">
                <a:latin typeface="Times New Roman" panose="02020603050405020304" pitchFamily="18" charset="0"/>
                <a:cs typeface="Times New Roman" panose="02020603050405020304" pitchFamily="18" charset="0"/>
              </a:rPr>
              <a:t>Centraliser les logs avec </a:t>
            </a:r>
            <a:r>
              <a:rPr lang="fr-FR" dirty="0">
                <a:latin typeface="Times New Roman" panose="02020603050405020304" pitchFamily="18" charset="0"/>
                <a:cs typeface="Times New Roman" panose="02020603050405020304" pitchFamily="18" charset="0"/>
              </a:rPr>
              <a:t>Wazuh</a:t>
            </a:r>
            <a:r>
              <a:rPr lang="fr-FR" dirty="0">
                <a:latin typeface="Times New Roman" panose="02020603050405020304" pitchFamily="18" charset="0"/>
                <a:cs typeface="Times New Roman" panose="02020603050405020304" pitchFamily="18" charset="0"/>
              </a:rPr>
              <a:t> ou ELK</a:t>
            </a:r>
          </a:p>
          <a:p>
            <a:pPr marL="0" indent="0">
              <a:buNone/>
            </a:pPr>
            <a:r>
              <a:rPr lang="fr-FR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       • </a:t>
            </a:r>
            <a:r>
              <a:rPr lang="fr-FR" dirty="0">
                <a:latin typeface="Times New Roman" panose="02020603050405020304" pitchFamily="18" charset="0"/>
                <a:cs typeface="Times New Roman" panose="02020603050405020304" pitchFamily="18" charset="0"/>
              </a:rPr>
              <a:t>Mettre en place des sauvegardes automatisées</a:t>
            </a:r>
          </a:p>
          <a:p>
            <a:pPr marL="0" indent="0">
              <a:buNone/>
            </a:pPr>
            <a:r>
              <a:rPr lang="fr-FR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       • </a:t>
            </a:r>
            <a:r>
              <a:rPr lang="fr-FR" dirty="0">
                <a:latin typeface="Times New Roman" panose="02020603050405020304" pitchFamily="18" charset="0"/>
                <a:cs typeface="Times New Roman" panose="02020603050405020304" pitchFamily="18" charset="0"/>
              </a:rPr>
              <a:t>Ajouter plusieurs serveurs et postes clients</a:t>
            </a:r>
          </a:p>
          <a:p>
            <a:pPr marL="0" indent="0">
              <a:buNone/>
            </a:pPr>
            <a:r>
              <a:rPr lang="fr-FR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       • </a:t>
            </a:r>
            <a:r>
              <a:rPr lang="fr-FR" dirty="0">
                <a:latin typeface="Times New Roman" panose="02020603050405020304" pitchFamily="18" charset="0"/>
                <a:cs typeface="Times New Roman" panose="02020603050405020304" pitchFamily="18" charset="0"/>
              </a:rPr>
              <a:t>Ajouter des alertes e-mail ou Telegram</a:t>
            </a:r>
          </a:p>
          <a:p>
            <a:pPr marL="0" indent="0">
              <a:buNone/>
            </a:pPr>
            <a:r>
              <a:rPr lang="fr-FR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       • </a:t>
            </a:r>
            <a:r>
              <a:rPr lang="fr-FR" dirty="0">
                <a:latin typeface="Times New Roman" panose="02020603050405020304" pitchFamily="18" charset="0"/>
                <a:cs typeface="Times New Roman" panose="02020603050405020304" pitchFamily="18" charset="0"/>
              </a:rPr>
              <a:t>Mettre en place la haute disponibilité</a:t>
            </a:r>
          </a:p>
        </p:txBody>
      </p:sp>
    </p:spTree>
    <p:extLst>
      <p:ext uri="{BB962C8B-B14F-4D97-AF65-F5344CB8AC3E}">
        <p14:creationId xmlns:p14="http://schemas.microsoft.com/office/powerpoint/2010/main" val="4039186685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on">
  <a:themeElements>
    <a:clrScheme name="Ion">
      <a:dk1>
        <a:sysClr val="windowText" lastClr="000000"/>
      </a:dk1>
      <a:lt1>
        <a:sysClr val="window" lastClr="FFFFFF"/>
      </a:lt1>
      <a:dk2>
        <a:srgbClr val="1E5155"/>
      </a:dk2>
      <a:lt2>
        <a:srgbClr val="EBEBEB"/>
      </a:lt2>
      <a:accent1>
        <a:srgbClr val="B01513"/>
      </a:accent1>
      <a:accent2>
        <a:srgbClr val="EA6312"/>
      </a:accent2>
      <a:accent3>
        <a:srgbClr val="E6B729"/>
      </a:accent3>
      <a:accent4>
        <a:srgbClr val="6AAC90"/>
      </a:accent4>
      <a:accent5>
        <a:srgbClr val="54849A"/>
      </a:accent5>
      <a:accent6>
        <a:srgbClr val="9E5E9B"/>
      </a:accent6>
      <a:hlink>
        <a:srgbClr val="58C1BA"/>
      </a:hlink>
      <a:folHlink>
        <a:srgbClr val="9DFFCB"/>
      </a:folHlink>
    </a:clrScheme>
    <a:fontScheme name="Ion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Ion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7000"/>
                <a:hueMod val="88000"/>
                <a:satMod val="130000"/>
                <a:lumMod val="124000"/>
              </a:schemeClr>
            </a:gs>
            <a:gs pos="100000">
              <a:schemeClr val="phClr">
                <a:tint val="96000"/>
                <a:shade val="88000"/>
                <a:hueMod val="108000"/>
                <a:satMod val="164000"/>
                <a:lumMod val="7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9000"/>
                <a:hueMod val="108000"/>
                <a:satMod val="164000"/>
                <a:lumMod val="74000"/>
              </a:schemeClr>
              <a:schemeClr val="phClr">
                <a:tint val="96000"/>
                <a:hueMod val="88000"/>
                <a:satMod val="140000"/>
                <a:lumMod val="132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on" id="{B8441ADB-2E43-4AF7-B97A-BD870242C6A8}" vid="{292E63A9-BB86-4E3D-B92A-7223C6510D2E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Ion</Template>
  <TotalTime>370</TotalTime>
  <Words>1145</Words>
  <Application>Microsoft Office PowerPoint</Application>
  <PresentationFormat>Grand écran</PresentationFormat>
  <Paragraphs>300</Paragraphs>
  <Slides>20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5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20</vt:i4>
      </vt:variant>
    </vt:vector>
  </HeadingPairs>
  <TitlesOfParts>
    <vt:vector size="26" baseType="lpstr">
      <vt:lpstr>Arial</vt:lpstr>
      <vt:lpstr>Century Gothic</vt:lpstr>
      <vt:lpstr>Times New Roman</vt:lpstr>
      <vt:lpstr>Wingdings</vt:lpstr>
      <vt:lpstr>Wingdings 3</vt:lpstr>
      <vt:lpstr>Ion</vt:lpstr>
      <vt:lpstr> Projet: Conception et mise en œuvre d’un laboratoire virtuel de réseau d’entreprise sécurisé</vt:lpstr>
      <vt:lpstr>                     Contexte et problématique</vt:lpstr>
      <vt:lpstr>               Objectifs du projet</vt:lpstr>
      <vt:lpstr>        Méthodologie et déroulement du projet</vt:lpstr>
      <vt:lpstr>             Environnement technique utilisé</vt:lpstr>
      <vt:lpstr>                 Capture VirtualBox avec les 4 machines</vt:lpstr>
      <vt:lpstr>                       Architecture réseau du laboratoire</vt:lpstr>
      <vt:lpstr>                     Voici l’architecture</vt:lpstr>
      <vt:lpstr>          L’adresse IP des machines</vt:lpstr>
      <vt:lpstr>                                Plan d’adressage IP</vt:lpstr>
      <vt:lpstr>                     Segmentation réseau et règles firewall</vt:lpstr>
      <vt:lpstr>                       Pfsense_firewall</vt:lpstr>
      <vt:lpstr>                      Services déployés : serveur Web et VPN</vt:lpstr>
      <vt:lpstr>                   Supervision avec Prometheus et Grafana</vt:lpstr>
      <vt:lpstr>           Automatisation des contrôles avec Python</vt:lpstr>
      <vt:lpstr>            Détection d’anomalies avec scikit-learn</vt:lpstr>
      <vt:lpstr>                         Suite:</vt:lpstr>
      <vt:lpstr>               Incident simulé : serveur Web indisponible</vt:lpstr>
      <vt:lpstr>                      Résultats obtenus et livrables</vt:lpstr>
      <vt:lpstr>                  Conclusion et perspectives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creator>Utilisateur Windows</dc:creator>
  <cp:lastModifiedBy>Utilisateur Windows</cp:lastModifiedBy>
  <cp:revision>35</cp:revision>
  <cp:lastPrinted>2026-09-07T17:41:26Z</cp:lastPrinted>
  <dcterms:created xsi:type="dcterms:W3CDTF">2026-09-06T21:38:59Z</dcterms:created>
  <dcterms:modified xsi:type="dcterms:W3CDTF">2026-09-07T17:48:04Z</dcterms:modified>
</cp:coreProperties>
</file>